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89641de9b034aa5" /><Relationship Type="http://schemas.openxmlformats.org/officeDocument/2006/relationships/extended-properties" Target="/docProps/app.xml" Id="R4d6a83afa3d3459e" /><Relationship Type="http://schemas.openxmlformats.org/officeDocument/2006/relationships/officeDocument" Target="/ppt/presentation.xml" Id="Rc2d2d8b7e44542d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0f66647fccc433d"/>
  </p:sldMasterIdLst>
  <p:notesMasterIdLst>
    <p:notesMasterId xmlns:r="http://schemas.openxmlformats.org/officeDocument/2006/relationships" r:id="R1038ffe4e06e4bb5"/>
  </p:notesMasterIdLst>
  <p:sldIdLst>
    <p:sldId xmlns:r="http://schemas.openxmlformats.org/officeDocument/2006/relationships" id="256" r:id="R04462d986b5246df"/>
    <p:sldId xmlns:r="http://schemas.openxmlformats.org/officeDocument/2006/relationships" id="257" r:id="R86b8470910134069"/>
    <p:sldId xmlns:r="http://schemas.openxmlformats.org/officeDocument/2006/relationships" id="258" r:id="R0025a1022de14dc0"/>
    <p:sldId xmlns:r="http://schemas.openxmlformats.org/officeDocument/2006/relationships" id="259" r:id="R90d57b5a559d4b79"/>
    <p:sldId xmlns:r="http://schemas.openxmlformats.org/officeDocument/2006/relationships" id="260" r:id="R1c409888db2c48ac"/>
    <p:sldId xmlns:r="http://schemas.openxmlformats.org/officeDocument/2006/relationships" id="261" r:id="Rb896762610304b73"/>
    <p:sldId xmlns:r="http://schemas.openxmlformats.org/officeDocument/2006/relationships" id="262" r:id="R2158f46d68b14bd9"/>
    <p:sldId xmlns:r="http://schemas.openxmlformats.org/officeDocument/2006/relationships" id="263" r:id="Raafa9705445048ce"/>
    <p:sldId xmlns:r="http://schemas.openxmlformats.org/officeDocument/2006/relationships" id="264" r:id="R7958ae253a734caa"/>
    <p:sldId xmlns:r="http://schemas.openxmlformats.org/officeDocument/2006/relationships" id="265" r:id="R80adca107da84488"/>
    <p:sldId xmlns:r="http://schemas.openxmlformats.org/officeDocument/2006/relationships" id="266" r:id="Rc7a05410d00a4207"/>
    <p:sldId xmlns:r="http://schemas.openxmlformats.org/officeDocument/2006/relationships" id="267" r:id="Rc98c54728c2646f4"/>
    <p:sldId xmlns:r="http://schemas.openxmlformats.org/officeDocument/2006/relationships" id="268" r:id="R04df6a7a53fe474b"/>
    <p:sldId xmlns:r="http://schemas.openxmlformats.org/officeDocument/2006/relationships" id="269" r:id="Rfb97f505d26a4144"/>
    <p:sldId xmlns:r="http://schemas.openxmlformats.org/officeDocument/2006/relationships" id="270" r:id="Rfc9c315ef28747e2"/>
    <p:sldId xmlns:r="http://schemas.openxmlformats.org/officeDocument/2006/relationships" id="271" r:id="Rffc83073d0304ca2"/>
    <p:sldId xmlns:r="http://schemas.openxmlformats.org/officeDocument/2006/relationships" id="272" r:id="R1222ccd511934a71"/>
    <p:sldId xmlns:r="http://schemas.openxmlformats.org/officeDocument/2006/relationships" id="273" r:id="R0d2376be3b7c439c"/>
    <p:sldId xmlns:r="http://schemas.openxmlformats.org/officeDocument/2006/relationships" id="274" r:id="Rbcdb6b67541c4ec2"/>
    <p:sldId xmlns:r="http://schemas.openxmlformats.org/officeDocument/2006/relationships" id="275" r:id="R9722ac3dde6d4cf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da680ca09ad48fb" /><Relationship Type="http://schemas.openxmlformats.org/officeDocument/2006/relationships/slideMaster" Target="/ppt/slideMasters/slideMaster1.xml" Id="R00f66647fccc433d" /><Relationship Type="http://schemas.openxmlformats.org/officeDocument/2006/relationships/notesMaster" Target="/ppt/notesMasters/notesMaster1.xml" Id="R1038ffe4e06e4bb5" /><Relationship Type="http://schemas.openxmlformats.org/officeDocument/2006/relationships/presProps" Target="/ppt/presProps.xml" Id="Ra3cf0d83fa494891" /><Relationship Type="http://schemas.openxmlformats.org/officeDocument/2006/relationships/tableStyles" Target="/ppt/tableStyles.xml" Id="Ree901f24cf6e47ea" /><Relationship Type="http://schemas.openxmlformats.org/officeDocument/2006/relationships/slide" Target="/ppt/slides/slide1.xml" Id="R04462d986b5246df" /><Relationship Type="http://schemas.openxmlformats.org/officeDocument/2006/relationships/slide" Target="/ppt/slides/slide2.xml" Id="R86b8470910134069" /><Relationship Type="http://schemas.openxmlformats.org/officeDocument/2006/relationships/slide" Target="/ppt/slides/slide3.xml" Id="R0025a1022de14dc0" /><Relationship Type="http://schemas.openxmlformats.org/officeDocument/2006/relationships/slide" Target="/ppt/slides/slide4.xml" Id="R90d57b5a559d4b79" /><Relationship Type="http://schemas.openxmlformats.org/officeDocument/2006/relationships/slide" Target="/ppt/slides/slide5.xml" Id="R1c409888db2c48ac" /><Relationship Type="http://schemas.openxmlformats.org/officeDocument/2006/relationships/slide" Target="/ppt/slides/slide6.xml" Id="Rb896762610304b73" /><Relationship Type="http://schemas.openxmlformats.org/officeDocument/2006/relationships/slide" Target="/ppt/slides/slide7.xml" Id="R2158f46d68b14bd9" /><Relationship Type="http://schemas.openxmlformats.org/officeDocument/2006/relationships/slide" Target="/ppt/slides/slide8.xml" Id="Raafa9705445048ce" /><Relationship Type="http://schemas.openxmlformats.org/officeDocument/2006/relationships/slide" Target="/ppt/slides/slide9.xml" Id="R7958ae253a734caa" /><Relationship Type="http://schemas.openxmlformats.org/officeDocument/2006/relationships/slide" Target="/ppt/slides/slide10.xml" Id="R80adca107da84488" /><Relationship Type="http://schemas.openxmlformats.org/officeDocument/2006/relationships/slide" Target="/ppt/slides/slide11.xml" Id="Rc7a05410d00a4207" /><Relationship Type="http://schemas.openxmlformats.org/officeDocument/2006/relationships/slide" Target="/ppt/slides/slide12.xml" Id="Rc98c54728c2646f4" /><Relationship Type="http://schemas.openxmlformats.org/officeDocument/2006/relationships/slide" Target="/ppt/slides/slide13.xml" Id="R04df6a7a53fe474b" /><Relationship Type="http://schemas.openxmlformats.org/officeDocument/2006/relationships/slide" Target="/ppt/slides/slide14.xml" Id="Rfb97f505d26a4144" /><Relationship Type="http://schemas.openxmlformats.org/officeDocument/2006/relationships/slide" Target="/ppt/slides/slide15.xml" Id="Rfc9c315ef28747e2" /><Relationship Type="http://schemas.openxmlformats.org/officeDocument/2006/relationships/slide" Target="/ppt/slides/slide16.xml" Id="Rffc83073d0304ca2" /><Relationship Type="http://schemas.openxmlformats.org/officeDocument/2006/relationships/slide" Target="/ppt/slides/slide17.xml" Id="R1222ccd511934a71" /><Relationship Type="http://schemas.openxmlformats.org/officeDocument/2006/relationships/slide" Target="/ppt/slides/slide18.xml" Id="R0d2376be3b7c439c" /><Relationship Type="http://schemas.openxmlformats.org/officeDocument/2006/relationships/slide" Target="/ppt/slides/slide19.xml" Id="Rbcdb6b67541c4ec2" /><Relationship Type="http://schemas.openxmlformats.org/officeDocument/2006/relationships/slide" Target="/ppt/slides/slide20.xml" Id="R9722ac3dde6d4cf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4d592e98ff1475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3ffbf8a90fe401e" /><Relationship Type="http://schemas.openxmlformats.org/officeDocument/2006/relationships/notesMaster" Target="/ppt/notesMasters/notesMaster1.xml" Id="R3c980fb8846d423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f8eb09fd18f4b59" /><Relationship Type="http://schemas.openxmlformats.org/officeDocument/2006/relationships/notesMaster" Target="/ppt/notesMasters/notesMaster1.xml" Id="R713026815b2c490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b3ce2bdd3de4573" /><Relationship Type="http://schemas.openxmlformats.org/officeDocument/2006/relationships/notesMaster" Target="/ppt/notesMasters/notesMaster1.xml" Id="R2a3817732d6844f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ecdcc8d1fda44c9" /><Relationship Type="http://schemas.openxmlformats.org/officeDocument/2006/relationships/notesMaster" Target="/ppt/notesMasters/notesMaster1.xml" Id="R284448df734e42c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c37325ca31c4735" /><Relationship Type="http://schemas.openxmlformats.org/officeDocument/2006/relationships/notesMaster" Target="/ppt/notesMasters/notesMaster1.xml" Id="Rc10092da3c3e4f4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047b25fc6b34b34" /><Relationship Type="http://schemas.openxmlformats.org/officeDocument/2006/relationships/notesMaster" Target="/ppt/notesMasters/notesMaster1.xml" Id="Redc447572c8d4d5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b370f75781b4343" /><Relationship Type="http://schemas.openxmlformats.org/officeDocument/2006/relationships/notesMaster" Target="/ppt/notesMasters/notesMaster1.xml" Id="Re4d08c117a35422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53f1a488c5f4790" /><Relationship Type="http://schemas.openxmlformats.org/officeDocument/2006/relationships/notesMaster" Target="/ppt/notesMasters/notesMaster1.xml" Id="R6de4474c60594f3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db56869003d4ee3" /><Relationship Type="http://schemas.openxmlformats.org/officeDocument/2006/relationships/notesMaster" Target="/ppt/notesMasters/notesMaster1.xml" Id="R6f0a783a849f4a0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36d1f82cff549c8" /><Relationship Type="http://schemas.openxmlformats.org/officeDocument/2006/relationships/notesMaster" Target="/ppt/notesMasters/notesMaster1.xml" Id="Ra3d806ed031b4fe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8e1ce262d564355" /><Relationship Type="http://schemas.openxmlformats.org/officeDocument/2006/relationships/notesMaster" Target="/ppt/notesMasters/notesMaster1.xml" Id="R2674074058954c8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e66efa01332415b" /><Relationship Type="http://schemas.openxmlformats.org/officeDocument/2006/relationships/notesMaster" Target="/ppt/notesMasters/notesMaster1.xml" Id="R4405f8710a60418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7926b2d305b4aa6" /><Relationship Type="http://schemas.openxmlformats.org/officeDocument/2006/relationships/notesMaster" Target="/ppt/notesMasters/notesMaster1.xml" Id="R7b1f0ed621d0428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30b833e54cd420e" /><Relationship Type="http://schemas.openxmlformats.org/officeDocument/2006/relationships/notesMaster" Target="/ppt/notesMasters/notesMaster1.xml" Id="R3e3bd1713029499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47eb87196a44bd4" /><Relationship Type="http://schemas.openxmlformats.org/officeDocument/2006/relationships/notesMaster" Target="/ppt/notesMasters/notesMaster1.xml" Id="R49624d62606b4297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5daca037f5784cc6" /><Relationship Type="http://schemas.openxmlformats.org/officeDocument/2006/relationships/notesMaster" Target="/ppt/notesMasters/notesMaster1.xml" Id="R9f79131464804f6a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7b4ffa4ae49e4939" /><Relationship Type="http://schemas.openxmlformats.org/officeDocument/2006/relationships/notesMaster" Target="/ppt/notesMasters/notesMaster1.xml" Id="R6752774f538d491e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e10afc9e44494e1c" /><Relationship Type="http://schemas.openxmlformats.org/officeDocument/2006/relationships/notesMaster" Target="/ppt/notesMasters/notesMaster1.xml" Id="Rb7feafa9f84f47d4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b5f57f7ee50b45de" /><Relationship Type="http://schemas.openxmlformats.org/officeDocument/2006/relationships/notesMaster" Target="/ppt/notesMasters/notesMaster1.xml" Id="R02b57ec8c99440f4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66e7d011f32e4aa2" /><Relationship Type="http://schemas.openxmlformats.org/officeDocument/2006/relationships/notesMaster" Target="/ppt/notesMasters/notesMaster1.xml" Id="R95b93f346cd743d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Thời lượng gợi ý: 0:45</a:t>
            </a:r>
          </a:p>
          <a:p xmlns:a="http://schemas.openxmlformats.org/drawingml/2006/main">
            <a:r>
              <a:t>Kính chào Hội đồng. Nhóm trình bày kết quả nghiên cứu và triển khai hệ thống My Furniture Store.</a:t>
            </a:r>
          </a:p>
          <a:p xmlns:a="http://schemas.openxmlformats.org/drawingml/2006/main">
            <a:r>
              <a:t>Điểm nhấn của đề tài là kết nối toàn bộ quy trình bán lẻ với tư vấn, đề xuất và phối cảnh nội thất bằng AI.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C:/Users/vikha/Desktop/BaoCaoKhoaLuan_Final1.docx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
[Sources]
- Ảnh tham chiếu và logo HUFLIT: tệp do người dùng cung cấp (codex-clipboard-746ead6d-41b2-4f75-b4b2-bf0af0ead1a5.png).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Thời lượng gợi ý: 0:30</a:t>
            </a:r>
          </a:p>
          <a:p xmlns:a="http://schemas.openxmlformats.org/drawingml/2006/main">
            <a:r>
              <a:t>Trình bày tập trung vào kết quả có thể kiểm chứng trong báo cáo và source code.</a:t>
            </a:r>
          </a:p>
          <a:p xmlns:a="http://schemas.openxmlformats.org/drawingml/2006/main">
            <a:r>
              <a:t>Phần demo nằm sau minh chứng triển khai để Hội đồng có đủ ngữ cảnh quan sát hệ thống.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C:/Users/vikha/Desktop/BaoCaoKhoaLuan_Final1.docx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Thời lượng gợi ý: 1:30</a:t>
            </a:r>
          </a:p>
          <a:p xmlns:a="http://schemas.openxmlformats.org/drawingml/2006/main">
            <a:r>
              <a:t>Nhấn mạnh đây không chỉ là bài toán xây một website bán hàng.</a:t>
            </a:r>
          </a:p>
          <a:p xmlns:a="http://schemas.openxmlformats.org/drawingml/2006/main">
            <a:r>
              <a:t>Hai vấn đề gắn với nhau: giảm sự không chắc chắn khi chọn nội thất và giữ trạng thái nghiệp vụ thống nhất từ bán hàng đến giao nhận.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C:/Users/vikha/Desktop/BaoCaoKhoaLuan_Final1.docx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Thời lượng gợi ý: 1:15</a:t>
            </a:r>
          </a:p>
          <a:p xmlns:a="http://schemas.openxmlformats.org/drawingml/2006/main">
            <a:r>
              <a:t>Làm rõ tiêu chí đánh giá: tính đúng đắn chức năng, khả năng tích hợp và tính khả thi của phối cảnh AI.</a:t>
            </a:r>
          </a:p>
          <a:p xmlns:a="http://schemas.openxmlformats.org/drawingml/2006/main">
            <a:r>
              <a:t>Không tuyên bố độ chính xác kích thước tuyệt đối hay quy mô sản xuất lớn.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C:/Users/vikha/Desktop/BaoCaoKhoaLuan_Final1.docx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Thời lượng gợi ý: 1:20</a:t>
            </a:r>
          </a:p>
          <a:p xmlns:a="http://schemas.openxmlformats.org/drawingml/2006/main">
            <a:r>
              <a:t>Mô tả ngắn chức năng mỗi vai trò, tránh liệt kê tất cả màn hình.</a:t>
            </a:r>
          </a:p>
          <a:p xmlns:a="http://schemas.openxmlformats.org/drawingml/2006/main">
            <a:r>
              <a:t>Điểm quan trọng là cùng một đơn hàng được nhìn từ ba ngữ cảnh nhưng dùng chung trạng thái nghiệp vụ.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C:/Users/vikha/Desktop/BaoCaoKhoaLuan_Final1.docx</a:t>
            </a:r>
          </a:p>
          <a:p xmlns:a="http://schemas.openxmlformats.org/drawingml/2006/main">
            <a:r>
              <a:t>- D:/KLTN/khoaluan/lib/services/api_service.dart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Thời lượng gợi ý: 1:20</a:t>
            </a:r>
          </a:p>
          <a:p xmlns:a="http://schemas.openxmlformats.org/drawingml/2006/main">
            <a:r>
              <a:t>Dùng một ví dụ đơn giản: khách tìm bàn ăn, xem thử trong phòng, đặt hàng và theo dõi giao nhận.</a:t>
            </a:r>
          </a:p>
          <a:p xmlns:a="http://schemas.openxmlformats.org/drawingml/2006/main">
            <a:r>
              <a:t>Nhấn mạnh việc tự động cập nhật tồn kho và lịch sử đơn sau giao dịch.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C:/Users/vikha/Desktop/BaoCaoKhoaLuan_Final1.docx</a:t>
            </a:r>
          </a:p>
          <a:p xmlns:a="http://schemas.openxmlformats.org/drawingml/2006/main">
            <a:r>
              <a:t>- D:/KLTN/khoaluan/lib/services/api_service.dart</a:t>
            </a:r>
          </a:p>
          <a:p xmlns:a="http://schemas.openxmlformats.org/drawingml/2006/main">
            <a:r>
              <a:t>- D:/KLTN/furniture_BE/furniture_BE/Controllers/OrdersController.cs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Thời lượng gợi ý: 1:45</a:t>
            </a:r>
          </a:p>
          <a:p xmlns:a="http://schemas.openxmlformats.org/drawingml/2006/main">
            <a:r>
              <a:t>Đi từ trái sang phải theo một request thông thường.</a:t>
            </a:r>
          </a:p>
          <a:p xmlns:a="http://schemas.openxmlformats.org/drawingml/2006/main">
            <a:r>
              <a:t>Khi có tác vụ AI, ASP.NET Core điều phối sang FastAPI hoặc nhà cung cấp tạo ảnh; client không truy cập trực tiếp khóa bí mật.</a:t>
            </a:r>
          </a:p>
          <a:p xmlns:a="http://schemas.openxmlformats.org/drawingml/2006/main">
            <a:r>
              <a:t>Tách dịch vụ AI giúp thời gian chờ và tài nguyên suy luận không làm phức tạp toàn bộ backend.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C:/Users/vikha/Desktop/BaoCaoKhoaLuan_Final1.docx</a:t>
            </a:r>
          </a:p>
          <a:p xmlns:a="http://schemas.openxmlformats.org/drawingml/2006/main">
            <a:r>
              <a:t>- D:/KLTN/furniture_BE/furniture_BE/Program.cs</a:t>
            </a:r>
          </a:p>
          <a:p xmlns:a="http://schemas.openxmlformats.org/drawingml/2006/main">
            <a:r>
              <a:t>- D:/KLTN/furniture_BE/furniture_BE/Data/AppDbContext.cs</a:t>
            </a:r>
          </a:p>
          <a:p xmlns:a="http://schemas.openxmlformats.org/drawingml/2006/main">
            <a:r>
              <a:t>- D:/KLTN/furniture_BE/furniture_BE/ai_service/README.md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Thời lượng gợi ý: 1:10</a:t>
            </a:r>
          </a:p>
          <a:p xmlns:a="http://schemas.openxmlformats.org/drawingml/2006/main">
            <a:r>
              <a:t>Giải thích lựa chọn theo trách nhiệm thay vì chỉ đọc danh sách công nghệ.</a:t>
            </a:r>
          </a:p>
          <a:p xmlns:a="http://schemas.openxmlformats.org/drawingml/2006/main">
            <a:r>
              <a:t>SignalR được dùng cho hỗ trợ và giao hàng thời gian thực; các API ngoài được gọi qua backend.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C:/Users/vikha/Desktop/BaoCaoKhoaLuan_Final1.docx</a:t>
            </a:r>
          </a:p>
          <a:p xmlns:a="http://schemas.openxmlformats.org/drawingml/2006/main">
            <a:r>
              <a:t>- D:/KLTN/furniture_BE/furniture_BE/Program.cs</a:t>
            </a:r>
          </a:p>
          <a:p xmlns:a="http://schemas.openxmlformats.org/drawingml/2006/main">
            <a:r>
              <a:t>- D:/KLTN/khoaluan/pubspec.yaml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Thời lượng gợi ý: 1:20</a:t>
            </a:r>
          </a:p>
          <a:p xmlns:a="http://schemas.openxmlformats.org/drawingml/2006/main">
            <a:r>
              <a:t>Nêu ví dụ tranh chấp tồn kho: transaction giúp tránh cập nhật nửa chừng.</a:t>
            </a:r>
          </a:p>
          <a:p xmlns:a="http://schemas.openxmlformats.org/drawingml/2006/main">
            <a:r>
              <a:t>Quy trình giao hàng không dừng ở trạng thái 'đã giao' mà còn có thu hộ, đối soát và báo cáo sự cố.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C:/Users/vikha/Desktop/BaoCaoKhoaLuan_Final1.docx</a:t>
            </a:r>
          </a:p>
          <a:p xmlns:a="http://schemas.openxmlformats.org/drawingml/2006/main">
            <a:r>
              <a:t>- D:/KLTN/furniture_BE/furniture_BE/Controllers/OrdersController.cs</a:t>
            </a:r>
          </a:p>
          <a:p xmlns:a="http://schemas.openxmlformats.org/drawingml/2006/main">
            <a:r>
              <a:t>- D:/KLTN/furniture_BE/furniture_BE/Controllers/DeliveryController.cs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Thời lượng gợi ý: 1:30</a:t>
            </a:r>
          </a:p>
          <a:p xmlns:a="http://schemas.openxmlformats.org/drawingml/2006/main">
            <a:r>
              <a:t>Giải thích hai nhóm gợi ý được trình bày riêng để người dùng hiểu mục đích.</a:t>
            </a:r>
          </a:p>
          <a:p xmlns:a="http://schemas.openxmlformats.org/drawingml/2006/main">
            <a:r>
              <a:t>Admin có thể bật/tắt từng phương pháp và điều chỉnh ngưỡng support, confidence trước khi xây lại luật.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C:/Users/vikha/Desktop/BaoCaoKhoaLuan_Final1.docx</a:t>
            </a:r>
          </a:p>
          <a:p xmlns:a="http://schemas.openxmlformats.org/drawingml/2006/main">
            <a:r>
              <a:t>- D:/KLTN/furniture_BE/furniture_BE/Services/RecommendationService.cs</a:t>
            </a:r>
          </a:p>
          <a:p xmlns:a="http://schemas.openxmlformats.org/drawingml/2006/main">
            <a:r>
              <a:t>- D:/KLTN/furniture_BE/furniture_BE/Controllers/RecommendationsController.cs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Thời lượng gợi ý: 2:00</a:t>
            </a:r>
          </a:p>
          <a:p xmlns:a="http://schemas.openxmlformats.org/drawingml/2006/main">
            <a:r>
              <a:t>Đây là đóng góp kỹ thuật nổi bật nhất, nên giải thích tuần tự sáu bước.</a:t>
            </a:r>
          </a:p>
          <a:p xmlns:a="http://schemas.openxmlformats.org/drawingml/2006/main">
            <a:r>
              <a:t>Kết quả phân tích gồm mặt phẳng sàn/tường, lưới chiều sâu 32x24, lưới ánh sáng 16x12 và mặt nạ che khuất.</a:t>
            </a:r>
          </a:p>
          <a:p xmlns:a="http://schemas.openxmlformats.org/drawingml/2006/main">
            <a:r>
              <a:t>AI tạo sinh OpenAI/Gemini là lớp tùy chọn sau khi đã có ảnh phòng và sản phẩm.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C:/Users/vikha/Desktop/BaoCaoKhoaLuan_Final1.docx</a:t>
            </a:r>
          </a:p>
          <a:p xmlns:a="http://schemas.openxmlformats.org/drawingml/2006/main">
            <a:r>
              <a:t>- D:/KLTN/furniture_BE/furniture_BE/ai_service/README.md</a:t>
            </a:r>
          </a:p>
          <a:p xmlns:a="http://schemas.openxmlformats.org/drawingml/2006/main">
            <a:r>
              <a:t>- D:/KLTN/furniture_BE/furniture_BE/ai_service/app.py</a:t>
            </a:r>
          </a:p>
          <a:p xmlns:a="http://schemas.openxmlformats.org/drawingml/2006/main">
            <a:r>
              <a:t>- D:/KLTN/khoaluan/lib/page/visualizer/room_visualizer_page.dart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Thời lượng gợi ý: 1:30</a:t>
            </a:r>
          </a:p>
          <a:p xmlns:a="http://schemas.openxmlformats.org/drawingml/2006/main">
            <a:r>
              <a:t>Chỉ rõ các điều khiển nằm ở cột bên phải và hai chế độ ở phía trên canvas.</a:t>
            </a:r>
          </a:p>
          <a:p xmlns:a="http://schemas.openxmlformats.org/drawingml/2006/main">
            <a:r>
              <a:t>Nêu cơ chế người dùng sửa bốn góc mặt phẳng hoặc mask che khuất khi AI nhận diện sai.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C:/Users/vikha/Desktop/BaoCaoKhoaLuan_Final1.docx</a:t>
            </a:r>
          </a:p>
          <a:p xmlns:a="http://schemas.openxmlformats.org/drawingml/2006/main">
            <a:r>
              <a:t>- D:/KLTN/khoaluan/lib/page/visualizer/room_visualizer_page.dart</a:t>
            </a:r>
          </a:p>
          <a:p xmlns:a="http://schemas.openxmlformats.org/drawingml/2006/main">
            <a:r>
              <a:t>- D:/KLTN/khoaluan/lib/model/room_analysis.dart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Thời lượng gợi ý: 1:20</a:t>
            </a:r>
          </a:p>
          <a:p xmlns:a="http://schemas.openxmlformats.org/drawingml/2006/main">
            <a:r>
              <a:t>Không đi sâu vào từng lớp mã nguồn; nhóm các biện pháp theo ba mục tiêu.</a:t>
            </a:r>
          </a:p>
          <a:p xmlns:a="http://schemas.openxmlformats.org/drawingml/2006/main">
            <a:r>
              <a:t>Nhấn mạnh access token ngẫu nhiên cho thiết kế chưa đăng nhập và thời hạn 24 giờ.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C:/Users/vikha/Desktop/BaoCaoKhoaLuan_Final1.docx</a:t>
            </a:r>
          </a:p>
          <a:p xmlns:a="http://schemas.openxmlformats.org/drawingml/2006/main">
            <a:r>
              <a:t>- D:/KLTN/furniture_BE/furniture_BE/Program.cs</a:t>
            </a:r>
          </a:p>
          <a:p xmlns:a="http://schemas.openxmlformats.org/drawingml/2006/main">
            <a:r>
              <a:t>- D:/KLTN/furniture_BE/furniture_BE/Controllers/RoomDesignsController.cs</a:t>
            </a:r>
          </a:p>
          <a:p xmlns:a="http://schemas.openxmlformats.org/drawingml/2006/main">
            <a:r>
              <a:t>- D:/KLTN/furniture_BE/furniture_BE/Services/ImageHarmonizationService.cs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Thời lượng gợi ý: 1:10</a:t>
            </a:r>
          </a:p>
          <a:p xmlns:a="http://schemas.openxmlformats.org/drawingml/2006/main">
            <a:r>
              <a:t>Dùng ảnh thật để chứng minh luồng khách hàng đã có giao diện triển khai.</a:t>
            </a:r>
          </a:p>
          <a:p xmlns:a="http://schemas.openxmlformats.org/drawingml/2006/main">
            <a:r>
              <a:t>Không dừng ở chatbot chung; trợ lý được đặt ngay trong trải nghiệm mua sắm và có dữ liệu sản phẩm.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C:/Users/vikha/Desktop/BaoCaoKhoaLuan_Final1.docx</a:t>
            </a:r>
          </a:p>
          <a:p xmlns:a="http://schemas.openxmlformats.org/drawingml/2006/main">
            <a:r>
              <a:t>- D:/KLTN/khoaluan/lib/page/product/product_detail_page.dart</a:t>
            </a:r>
          </a:p>
          <a:p xmlns:a="http://schemas.openxmlformats.org/drawingml/2006/main">
            <a:r>
              <a:t>- D:/KLTN/furniture_BE/furniture_BE/Controllers/ChatbotController.cs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Thời lượng gợi ý: 1:20</a:t>
            </a:r>
          </a:p>
          <a:p xmlns:a="http://schemas.openxmlformats.org/drawingml/2006/main">
            <a:r>
              <a:t>Giải thích vòng trạng thái: Admin xác nhận và phân công; Shipper nhận đơn, cập nhật hoặc báo sự cố; Admin tiếp nhận để hẹn lại.</a:t>
            </a:r>
          </a:p>
          <a:p xmlns:a="http://schemas.openxmlformats.org/drawingml/2006/main">
            <a:r>
              <a:t>SignalR cập nhật sự kiện hỗ trợ và giao hàng theo thời gian thực.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C:/Users/vikha/Desktop/BaoCaoKhoaLuan_Final1.docx</a:t>
            </a:r>
          </a:p>
          <a:p xmlns:a="http://schemas.openxmlformats.org/drawingml/2006/main">
            <a:r>
              <a:t>- D:/KLTN/furniture_BE/furniture_BE/Controllers/DeliveryController.cs</a:t>
            </a:r>
          </a:p>
          <a:p xmlns:a="http://schemas.openxmlformats.org/drawingml/2006/main">
            <a:r>
              <a:t>- D:/KLTN/furniture_BE/furniture_BE/Services/DeliveryRealtimeNotifier.cs</a:t>
            </a:r>
          </a:p>
          <a:p xmlns:a="http://schemas.openxmlformats.org/drawingml/2006/main">
            <a:r>
              <a:t>- D:/KLTN/khoaluan/lib/page/shipper/shipper_home_page.dart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Thời lượng gợi ý: 1:20</a:t>
            </a:r>
          </a:p>
          <a:p xmlns:a="http://schemas.openxmlformats.org/drawingml/2006/main">
            <a:r>
              <a:t>Các số liệu được đếm từ source code trong workspace, không lấy từ ước lượng.</a:t>
            </a:r>
          </a:p>
          <a:p xmlns:a="http://schemas.openxmlformats.org/drawingml/2006/main">
            <a:r>
              <a:t>Kết quả kiểm thử được chạy lại trước khi tạo slide: 40 test Flutter và 4 test xử lý ảnh đều đạt.</a:t>
            </a:r>
          </a:p>
          <a:p xmlns:a="http://schemas.openxmlformats.org/drawingml/2006/main">
            <a:r>
              <a:t>Không khẳng định đây là kiểm thử tải hoặc kiểm thử bảo mật chuyên sâu.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D:/KLTN/furniture_BE/furniture_BE/Controllers</a:t>
            </a:r>
          </a:p>
          <a:p xmlns:a="http://schemas.openxmlformats.org/drawingml/2006/main">
            <a:r>
              <a:t>- D:/KLTN/furniture_BE/furniture_BE/Data/AppDbContext.cs</a:t>
            </a:r>
          </a:p>
          <a:p xmlns:a="http://schemas.openxmlformats.org/drawingml/2006/main">
            <a:r>
              <a:t>- D:/KLTN/khoaluan/test</a:t>
            </a:r>
          </a:p>
          <a:p xmlns:a="http://schemas.openxmlformats.org/drawingml/2006/main">
            <a:r>
              <a:t>- D:/KLTN/furniture_BE/furniture_BE/ai_service/test_scene_utils.py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Thời lượng gợi ý: 5:30</a:t>
            </a:r>
          </a:p>
          <a:p xmlns:a="http://schemas.openxmlformats.org/drawingml/2006/main">
            <a:r>
              <a:t>Chuẩn bị sẵn tài khoản khách hàng, Admin và Shipper ở ba tab trình duyệt.</a:t>
            </a:r>
          </a:p>
          <a:p xmlns:a="http://schemas.openxmlformats.org/drawingml/2006/main">
            <a:r>
              <a:t>Phần 1: mở sản phẩm bàn ăn, chọn biến thể, vào Room Design và thao tác một điều khiển phối cảnh.</a:t>
            </a:r>
          </a:p>
          <a:p xmlns:a="http://schemas.openxmlformats.org/drawingml/2006/main">
            <a:r>
              <a:t>Phần 2: thêm giỏ, áp voucher, chọn địa chỉ; chỉ mở sandbox VNPay nếu kết nối ổn định.</a:t>
            </a:r>
          </a:p>
          <a:p xmlns:a="http://schemas.openxmlformats.org/drawingml/2006/main">
            <a:r>
              <a:t>Phần 3: Admin xác nhận/phân công, Shipper nhận đơn và mở báo cáo sự cố.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C:/Users/vikha/Desktop/BaoCaoKhoaLuan_Final1.docx</a:t>
            </a:r>
          </a:p>
          <a:p xmlns:a="http://schemas.openxmlformats.org/drawingml/2006/main">
            <a:r>
              <a:t>- D:/KLTN/khoaluan/lib/services/api_service.dart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Thời lượng gợi ý: 1:20</a:t>
            </a:r>
          </a:p>
          <a:p xmlns:a="http://schemas.openxmlformats.org/drawingml/2006/main">
            <a:r>
              <a:t>Trình bày thẳng các giới hạn để định vị đúng mức độ hoàn thiện của khóa luận.</a:t>
            </a:r>
          </a:p>
          <a:p xmlns:a="http://schemas.openxmlformats.org/drawingml/2006/main">
            <a:r>
              <a:t>Mỗi hạn chế được nối với một hướng phát triển cụ thể, có thể kiểm chứng trong giai đoạn tiếp theo.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C:/Users/vikha/Desktop/BaoCaoKhoaLuan_Final1.docx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Thời lượng gợi ý: 0:50</a:t>
            </a:r>
          </a:p>
          <a:p xmlns:a="http://schemas.openxmlformats.org/drawingml/2006/main">
            <a:r>
              <a:t>Khép lại bằng cách trả lời đúng bài toán mở đầu: hỗ trợ quyết định mua và đồng bộ vận hành.</a:t>
            </a:r>
          </a:p>
          <a:p xmlns:a="http://schemas.openxmlformats.org/drawingml/2006/main">
            <a:r>
              <a:t>Không lặp lại toàn bộ danh sách chức năng; giữ ba kết luận về người dùng, kỹ thuật và vận hành.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C:/Users/vikha/Desktop/BaoCaoKhoaLuan_Final1.docx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Thời lượng gợi ý: Phần còn lại</a:t>
            </a:r>
          </a:p>
          <a:p xmlns:a="http://schemas.openxmlformats.org/drawingml/2006/main">
            <a:r>
              <a:t>Mời Hội đồng đặt câu hỏi.</a:t>
            </a:r>
          </a:p>
          <a:p xmlns:a="http://schemas.openxmlformats.org/drawingml/2006/main">
            <a:r>
              <a:t>Ưu tiên trả lời theo cấu trúc: quyết định thiết kế → bằng chứng trong source code → giới hạn hiện tại.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C:/Users/vikha/Desktop/BaoCaoKhoaLuan_Final1.docx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5a828960537424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01a807b7c064d6c" /><Relationship Type="http://schemas.openxmlformats.org/officeDocument/2006/relationships/slideLayout" Target="/ppt/slideLayouts/slideLayout1.xml" Id="Rd9cfd3f57a294ff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9cfd3f57a294ff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2c926540f2498e" /><Relationship Type="http://schemas.openxmlformats.org/officeDocument/2006/relationships/image" Target="/ppt/media/image.png" Id="R1743287a9e1e4fb3" /><Relationship Type="http://schemas.openxmlformats.org/officeDocument/2006/relationships/notesSlide" Target="/ppt/notesSlides/notesSlide1.xml" Id="Rb48a98800cdb471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b8ac53cc464ed9" /><Relationship Type="http://schemas.openxmlformats.org/officeDocument/2006/relationships/notesSlide" Target="/ppt/notesSlides/notesSlide2.xml" Id="Raa6bf3a6bfbd4b1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05e6e605224dce" /><Relationship Type="http://schemas.openxmlformats.org/officeDocument/2006/relationships/notesSlide" Target="/ppt/notesSlides/notesSlide3.xml" Id="R97e2d35ddce244f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c88a7a96b6400f" /><Relationship Type="http://schemas.openxmlformats.org/officeDocument/2006/relationships/notesSlide" Target="/ppt/notesSlides/notesSlide4.xml" Id="R6b2d5f78283a4c3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12b0e6c8844cc1" /><Relationship Type="http://schemas.openxmlformats.org/officeDocument/2006/relationships/notesSlide" Target="/ppt/notesSlides/notesSlide5.xml" Id="Rf520d0fe07e0436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52930958724eea" /><Relationship Type="http://schemas.openxmlformats.org/officeDocument/2006/relationships/notesSlide" Target="/ppt/notesSlides/notesSlide6.xml" Id="R277dd39c671c4ac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9c7b49ab1d40ae" /><Relationship Type="http://schemas.openxmlformats.org/officeDocument/2006/relationships/notesSlide" Target="/ppt/notesSlides/notesSlide7.xml" Id="R6d24d677f8914c6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53d95688224b7d" /><Relationship Type="http://schemas.openxmlformats.org/officeDocument/2006/relationships/notesSlide" Target="/ppt/notesSlides/notesSlide8.xml" Id="Ra3334dc00e91436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9f31ab7a0840de" /><Relationship Type="http://schemas.openxmlformats.org/officeDocument/2006/relationships/notesSlide" Target="/ppt/notesSlides/notesSlide9.xml" Id="R960a04520ed8472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48386112e14ef8" /><Relationship Type="http://schemas.openxmlformats.org/officeDocument/2006/relationships/image" Target="/ppt/media/image2.png" Id="R78fbddff3ca74c9e" /><Relationship Type="http://schemas.openxmlformats.org/officeDocument/2006/relationships/notesSlide" Target="/ppt/notesSlides/notesSlide10.xml" Id="R1f2387062bc34bb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1086fa542a4f28" /><Relationship Type="http://schemas.openxmlformats.org/officeDocument/2006/relationships/notesSlide" Target="/ppt/notesSlides/notesSlide11.xml" Id="R9547bb2606384f2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7c6e913e9e427f" /><Relationship Type="http://schemas.openxmlformats.org/officeDocument/2006/relationships/image" Target="/ppt/media/image3.png" Id="Rd50063d1c1ad47a8" /><Relationship Type="http://schemas.openxmlformats.org/officeDocument/2006/relationships/notesSlide" Target="/ppt/notesSlides/notesSlide12.xml" Id="R7fea3c63ca4449b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cd5ce43c374191" /><Relationship Type="http://schemas.openxmlformats.org/officeDocument/2006/relationships/notesSlide" Target="/ppt/notesSlides/notesSlide13.xml" Id="Ra2ee55f894e0404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eb40b4cc37460e" /><Relationship Type="http://schemas.openxmlformats.org/officeDocument/2006/relationships/image" Target="/ppt/media/image4.png" Id="Rbe2b3bab57ba4ab8" /><Relationship Type="http://schemas.openxmlformats.org/officeDocument/2006/relationships/image" Target="/ppt/media/image5.png" Id="R4a403008118c4744" /><Relationship Type="http://schemas.openxmlformats.org/officeDocument/2006/relationships/notesSlide" Target="/ppt/notesSlides/notesSlide14.xml" Id="Rc2700ccf201d4e0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581a0ba4014473" /><Relationship Type="http://schemas.openxmlformats.org/officeDocument/2006/relationships/image" Target="/ppt/media/image6.png" Id="R293bd0e723384f3b" /><Relationship Type="http://schemas.openxmlformats.org/officeDocument/2006/relationships/image" Target="/ppt/media/image7.png" Id="R04a29a742ade4cfb" /><Relationship Type="http://schemas.openxmlformats.org/officeDocument/2006/relationships/image" Target="/ppt/media/image8.png" Id="Rff859480a5bb4a2a" /><Relationship Type="http://schemas.openxmlformats.org/officeDocument/2006/relationships/notesSlide" Target="/ppt/notesSlides/notesSlide15.xml" Id="R4b50f723bf1c46d7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4a85b7d14a4fa9" /><Relationship Type="http://schemas.openxmlformats.org/officeDocument/2006/relationships/notesSlide" Target="/ppt/notesSlides/notesSlide16.xml" Id="Ree4a04e4a8344688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4d9df74de24f1e" /><Relationship Type="http://schemas.openxmlformats.org/officeDocument/2006/relationships/notesSlide" Target="/ppt/notesSlides/notesSlide17.xml" Id="Re0e63daaed1a459d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d394602ca24f35" /><Relationship Type="http://schemas.openxmlformats.org/officeDocument/2006/relationships/notesSlide" Target="/ppt/notesSlides/notesSlide18.xml" Id="Radd51530a1154448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6b225a912d4e11" /><Relationship Type="http://schemas.openxmlformats.org/officeDocument/2006/relationships/notesSlide" Target="/ppt/notesSlides/notesSlide19.xml" Id="Rd3427eb0ac8a4937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12dc5b04e3402f" /><Relationship Type="http://schemas.openxmlformats.org/officeDocument/2006/relationships/notesSlide" Target="/ppt/notesSlides/notesSlide20.xml" Id="R016e3a2ace4c49f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43287a9e1e4fb3"/>
          <a:stretch xmlns:a="http://schemas.openxmlformats.org/drawingml/2006/main"/>
        </p:blipFill>
        <p:spPr>
          <a:xfrm xmlns:a="http://schemas.openxmlformats.org/drawingml/2006/main">
            <a:off x="5353050" y="990600"/>
            <a:ext cx="1485900" cy="990600"/>
          </a:xfrm>
          <a:prstGeom xmlns:a="http://schemas.openxmlformats.org/drawingml/2006/main" prst="rect">
            <a:avLst/>
          </a:prstGeom>
        </p:spPr>
      </p:pic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4D05F5BC-07E3-4EAA-87CA-1ED21412A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670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344054"/>
                </a:solidFill>
                <a:latin typeface="Times New Roman"/>
                <a:ea typeface="Times New Roman"/>
                <a:cs typeface="Times New Roman"/>
              </a:rPr>
              <a:t>BỘ GIÁO DỤC VÀ ĐÀO TẠO · TRƯỜNG ĐẠI HỌC NGOẠI NGỮ – TIN HỌC TP. HỒ CHÍ MINH</a:t>
            </a:r>
          </a:p>
          <a:p xmlns:a="http://schemas.openxmlformats.org/drawingml/2006/main">
            <a:pPr algn="ctr">
              <a:buNone/>
              <a:defRPr sz="1200" b="1" i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344054"/>
                </a:solidFill>
                <a:latin typeface="Times New Roman"/>
                <a:ea typeface="Times New Roman"/>
                <a:cs typeface="Times New Roman"/>
              </a:rPr>
              <a:t>KHOA CÔNG NGHỆ THÔNG TIN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AB3DB6FB-9F06-48BD-952E-86CAC47B9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781300"/>
            <a:ext cx="101917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225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3375" b="1" i="0">
                <a:solidFill>
                  <a:srgbClr val="101828"/>
                </a:solidFill>
                <a:latin typeface="Times New Roman"/>
                <a:ea typeface="Times New Roman"/>
                <a:cs typeface="Times New Roman"/>
              </a:rPr>
              <a:t>Hệ thống bán lẻ nội thất trực tuyến</a:t>
            </a:r>
          </a:p>
          <a:p xmlns:a="http://schemas.openxmlformats.org/drawingml/2006/main">
            <a:pPr algn="ctr">
              <a:buNone/>
              <a:defRPr sz="3225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3375" b="1" i="0">
                <a:solidFill>
                  <a:srgbClr val="101828"/>
                </a:solidFill>
                <a:latin typeface="Times New Roman"/>
                <a:ea typeface="Times New Roman"/>
                <a:cs typeface="Times New Roman"/>
              </a:rPr>
              <a:t>hỗ trợ phối cảnh không gian thực bằng AI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45AA6D72-8B15-48A4-A080-362BE7367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133600"/>
            <a:ext cx="800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3D8DFF"/>
                </a:solidFill>
                <a:latin typeface="Times New Roman"/>
                <a:ea typeface="Times New Roman"/>
                <a:cs typeface="Times New Roman"/>
              </a:rPr>
              <a:t>BẢO VỆ ĐỒ ÁN KHÓA LUẬN TỐT NGHIỆP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23FB58B1-5F90-4D1D-8D2B-C227D3C3A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686300"/>
            <a:ext cx="4381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344054"/>
                </a:solidFill>
                <a:latin typeface="Times New Roman"/>
                <a:ea typeface="Times New Roman"/>
                <a:cs typeface="Times New Roman"/>
              </a:rPr>
              <a:t>SINH VIÊN THỰC HIỆN</a:t>
            </a:r>
          </a:p>
          <a:p xmlns:a="http://schemas.openxmlformats.org/drawingml/2006/main">
            <a:pPr algn="l">
              <a:buNone/>
              <a:defRPr sz="1350" b="0" i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344054"/>
                </a:solidFill>
                <a:latin typeface="Times New Roman"/>
                <a:ea typeface="Times New Roman"/>
                <a:cs typeface="Times New Roman"/>
              </a:rPr>
              <a:t>Đỗ Minh Vĩ Khang — 23DH114848</a:t>
            </a:r>
          </a:p>
          <a:p xmlns:a="http://schemas.openxmlformats.org/drawingml/2006/main">
            <a:pPr algn="l">
              <a:buNone/>
              <a:defRPr sz="1350" b="0" i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344054"/>
                </a:solidFill>
                <a:latin typeface="Times New Roman"/>
                <a:ea typeface="Times New Roman"/>
                <a:cs typeface="Times New Roman"/>
              </a:rPr>
              <a:t>Trần Ngọc Nhật Duy — 23DH110529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13BF31FB-4E1F-4922-B9A7-A727CEF6F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686300"/>
            <a:ext cx="376237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344054"/>
                </a:solidFill>
                <a:latin typeface="Times New Roman"/>
                <a:ea typeface="Times New Roman"/>
                <a:cs typeface="Times New Roman"/>
              </a:rPr>
              <a:t>GIẢNG VIÊN HƯỚNG DẪN</a:t>
            </a:r>
          </a:p>
          <a:p xmlns:a="http://schemas.openxmlformats.org/drawingml/2006/main">
            <a:pPr algn="l">
              <a:buNone/>
              <a:defRPr sz="1350" b="0" i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344054"/>
                </a:solidFill>
                <a:latin typeface="Times New Roman"/>
                <a:ea typeface="Times New Roman"/>
                <a:cs typeface="Times New Roman"/>
              </a:rPr>
              <a:t>ThS. Lương Văn Minh</a:t>
            </a:r>
          </a:p>
          <a:p xmlns:a="http://schemas.openxmlformats.org/drawingml/2006/main">
            <a:pPr algn="l">
              <a:buNone/>
              <a:defRPr sz="1350" b="0" i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344054"/>
                </a:solidFill>
                <a:latin typeface="Times New Roman"/>
                <a:ea typeface="Times New Roman"/>
                <a:cs typeface="Times New Roman"/>
              </a:rPr>
              <a:t>TP.HCM · 08/2026</a:t>
            </a:r>
          </a:p>
        </p:txBody>
      </p:sp>
    </p:spTree>
    <p:extLst>
      <p:ext uri="{BB962C8B-B14F-4D97-AF65-F5344CB8AC3E}">
        <p14:creationId xmlns:p14="http://schemas.microsoft.com/office/powerpoint/2010/main" val="101643998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ext-6">
            <a:extLst xmlns:a="http://schemas.openxmlformats.org/drawingml/2006/main">
              <a:ext uri="{FF2B5EF4-FFF2-40B4-BE49-F238E27FC236}">
                <a16:creationId xmlns:a16="http://schemas.microsoft.com/office/drawing/2014/main" id="{1719317D-59EE-4A24-AF00-5C660CD8E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3D8DFF"/>
                </a:solidFill>
                <a:latin typeface="Times New Roman"/>
                <a:ea typeface="Times New Roman"/>
                <a:cs typeface="Times New Roman"/>
              </a:rPr>
              <a:t>BẢO VỆ KHÓA LUẬN</a:t>
            </a:r>
          </a:p>
        </p:txBody>
      </p:sp>
      <p:sp>
        <p:nvSpPr>
          <p:cNvPr id="2" name="text-7">
            <a:extLst xmlns:a="http://schemas.openxmlformats.org/drawingml/2006/main">
              <a:ext uri="{FF2B5EF4-FFF2-40B4-BE49-F238E27FC236}">
                <a16:creationId xmlns:a16="http://schemas.microsoft.com/office/drawing/2014/main" id="{68A86D60-E0BA-4A0B-A354-5502DA56E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0810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101828"/>
                </a:solidFill>
                <a:latin typeface="Times New Roman"/>
                <a:ea typeface="Times New Roman"/>
                <a:cs typeface="Times New Roman"/>
              </a:rPr>
              <a:t>Mạch trình bày đi từ bài toán đến minh chứng triển khai</a:t>
            </a:r>
          </a:p>
        </p:txBody>
      </p:sp>
      <p:sp>
        <p:nvSpPr>
          <p:cNvPr id="3" name="line-8">
            <a:extLst xmlns:a="http://schemas.openxmlformats.org/drawingml/2006/main">
              <a:ext uri="{FF2B5EF4-FFF2-40B4-BE49-F238E27FC236}">
                <a16:creationId xmlns:a16="http://schemas.microsoft.com/office/drawing/2014/main" id="{24B2766B-A583-44CF-A1E0-319731130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113919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text-9">
            <a:extLst xmlns:a="http://schemas.openxmlformats.org/drawingml/2006/main">
              <a:ext uri="{FF2B5EF4-FFF2-40B4-BE49-F238E27FC236}">
                <a16:creationId xmlns:a16="http://schemas.microsoft.com/office/drawing/2014/main" id="{E5F52CCC-BB64-412E-AAC2-922EA3B72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722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5B6472"/>
                </a:solidFill>
                <a:latin typeface="Times New Roman"/>
                <a:ea typeface="Times New Roman"/>
                <a:cs typeface="Times New Roman"/>
              </a:rPr>
              <a:t>02</a:t>
            </a:r>
          </a:p>
        </p:txBody>
      </p:sp>
      <p:sp>
        <p:nvSpPr>
          <p:cNvPr id="5" name="line-10">
            <a:extLst xmlns:a="http://schemas.openxmlformats.org/drawingml/2006/main">
              <a:ext uri="{FF2B5EF4-FFF2-40B4-BE49-F238E27FC236}">
                <a16:creationId xmlns:a16="http://schemas.microsoft.com/office/drawing/2014/main" id="{158C765F-DDBD-4B57-9191-D126BC243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76625"/>
            <a:ext cx="10287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01828"/>
            </a:solidFill>
            <a:prstDash val="solid"/>
          </a:ln>
        </p:spPr>
      </p:sp>
      <p:sp>
        <p:nvSpPr>
          <p:cNvPr id="6" name="box-11">
            <a:extLst xmlns:a="http://schemas.openxmlformats.org/drawingml/2006/main">
              <a:ext uri="{FF2B5EF4-FFF2-40B4-BE49-F238E27FC236}">
                <a16:creationId xmlns:a16="http://schemas.microsoft.com/office/drawing/2014/main" id="{6BBA8D1E-A85C-477C-99F6-EF6381964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33147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-12">
            <a:extLst xmlns:a="http://schemas.openxmlformats.org/drawingml/2006/main">
              <a:ext uri="{FF2B5EF4-FFF2-40B4-BE49-F238E27FC236}">
                <a16:creationId xmlns:a16="http://schemas.microsoft.com/office/drawing/2014/main" id="{0A28FFB1-733F-4C72-B9EF-4AA0A3505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00300"/>
            <a:ext cx="990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101828"/>
                </a:solidFill>
                <a:latin typeface="Times New Roman"/>
                <a:ea typeface="Times New Roman"/>
                <a:cs typeface="Times New Roman"/>
              </a:rPr>
              <a:t>01</a:t>
            </a:r>
          </a:p>
        </p:txBody>
      </p:sp>
      <p:sp>
        <p:nvSpPr>
          <p:cNvPr id="8" name="text-13">
            <a:extLst xmlns:a="http://schemas.openxmlformats.org/drawingml/2006/main">
              <a:ext uri="{FF2B5EF4-FFF2-40B4-BE49-F238E27FC236}">
                <a16:creationId xmlns:a16="http://schemas.microsoft.com/office/drawing/2014/main" id="{F18CBA0F-C7C3-46C7-828F-5EC210E07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43350"/>
            <a:ext cx="1333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01828"/>
                </a:solidFill>
                <a:latin typeface="Times New Roman"/>
                <a:ea typeface="Times New Roman"/>
                <a:cs typeface="Times New Roman"/>
              </a:rPr>
              <a:t>Bài toán &amp; mục tiêu</a:t>
            </a:r>
          </a:p>
        </p:txBody>
      </p:sp>
      <p:sp>
        <p:nvSpPr>
          <p:cNvPr id="9" name="box-14">
            <a:extLst xmlns:a="http://schemas.openxmlformats.org/drawingml/2006/main">
              <a:ext uri="{FF2B5EF4-FFF2-40B4-BE49-F238E27FC236}">
                <a16:creationId xmlns:a16="http://schemas.microsoft.com/office/drawing/2014/main" id="{9753FDD9-499B-4888-AFC2-717921F49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33147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-15">
            <a:extLst xmlns:a="http://schemas.openxmlformats.org/drawingml/2006/main">
              <a:ext uri="{FF2B5EF4-FFF2-40B4-BE49-F238E27FC236}">
                <a16:creationId xmlns:a16="http://schemas.microsoft.com/office/drawing/2014/main" id="{AEA32C1B-261C-4F73-B27B-66888BEA1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400300"/>
            <a:ext cx="990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101828"/>
                </a:solidFill>
                <a:latin typeface="Times New Roman"/>
                <a:ea typeface="Times New Roman"/>
                <a:cs typeface="Times New Roman"/>
              </a:rPr>
              <a:t>02</a:t>
            </a:r>
          </a:p>
        </p:txBody>
      </p:sp>
      <p:sp>
        <p:nvSpPr>
          <p:cNvPr id="11" name="text-16">
            <a:extLst xmlns:a="http://schemas.openxmlformats.org/drawingml/2006/main">
              <a:ext uri="{FF2B5EF4-FFF2-40B4-BE49-F238E27FC236}">
                <a16:creationId xmlns:a16="http://schemas.microsoft.com/office/drawing/2014/main" id="{7125A640-AF5D-4290-8378-119D20F6B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943350"/>
            <a:ext cx="1333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01828"/>
                </a:solidFill>
                <a:latin typeface="Times New Roman"/>
                <a:ea typeface="Times New Roman"/>
                <a:cs typeface="Times New Roman"/>
              </a:rPr>
              <a:t>Giải pháp &amp; kiến trúc</a:t>
            </a:r>
          </a:p>
        </p:txBody>
      </p:sp>
      <p:sp>
        <p:nvSpPr>
          <p:cNvPr id="12" name="box-17">
            <a:extLst xmlns:a="http://schemas.openxmlformats.org/drawingml/2006/main">
              <a:ext uri="{FF2B5EF4-FFF2-40B4-BE49-F238E27FC236}">
                <a16:creationId xmlns:a16="http://schemas.microsoft.com/office/drawing/2014/main" id="{6B2710B8-A3B1-44FC-ACBD-18CE9BD83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33147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-18">
            <a:extLst xmlns:a="http://schemas.openxmlformats.org/drawingml/2006/main">
              <a:ext uri="{FF2B5EF4-FFF2-40B4-BE49-F238E27FC236}">
                <a16:creationId xmlns:a16="http://schemas.microsoft.com/office/drawing/2014/main" id="{10931EF1-C5E9-4528-BADD-CBCE153B9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400300"/>
            <a:ext cx="990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101828"/>
                </a:solidFill>
                <a:latin typeface="Times New Roman"/>
                <a:ea typeface="Times New Roman"/>
                <a:cs typeface="Times New Roman"/>
              </a:rPr>
              <a:t>03</a:t>
            </a:r>
          </a:p>
        </p:txBody>
      </p:sp>
      <p:sp>
        <p:nvSpPr>
          <p:cNvPr id="14" name="text-19">
            <a:extLst xmlns:a="http://schemas.openxmlformats.org/drawingml/2006/main">
              <a:ext uri="{FF2B5EF4-FFF2-40B4-BE49-F238E27FC236}">
                <a16:creationId xmlns:a16="http://schemas.microsoft.com/office/drawing/2014/main" id="{CEBD2061-9355-419D-8604-E78CD9E11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943350"/>
            <a:ext cx="1333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01828"/>
                </a:solidFill>
                <a:latin typeface="Times New Roman"/>
                <a:ea typeface="Times New Roman"/>
                <a:cs typeface="Times New Roman"/>
              </a:rPr>
              <a:t>AI &amp; thuật toán</a:t>
            </a:r>
          </a:p>
        </p:txBody>
      </p:sp>
      <p:sp>
        <p:nvSpPr>
          <p:cNvPr id="15" name="box-20">
            <a:extLst xmlns:a="http://schemas.openxmlformats.org/drawingml/2006/main">
              <a:ext uri="{FF2B5EF4-FFF2-40B4-BE49-F238E27FC236}">
                <a16:creationId xmlns:a16="http://schemas.microsoft.com/office/drawing/2014/main" id="{3B31D0E4-E665-490F-B6F0-C46E32D2E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33147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xt-21">
            <a:extLst xmlns:a="http://schemas.openxmlformats.org/drawingml/2006/main">
              <a:ext uri="{FF2B5EF4-FFF2-40B4-BE49-F238E27FC236}">
                <a16:creationId xmlns:a16="http://schemas.microsoft.com/office/drawing/2014/main" id="{4520D04A-EAA4-423C-A20E-07A07D2F4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400300"/>
            <a:ext cx="990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3D8DFF"/>
                </a:solidFill>
                <a:latin typeface="Times New Roman"/>
                <a:ea typeface="Times New Roman"/>
                <a:cs typeface="Times New Roman"/>
              </a:rPr>
              <a:t>04</a:t>
            </a:r>
          </a:p>
        </p:txBody>
      </p:sp>
      <p:sp>
        <p:nvSpPr>
          <p:cNvPr id="17" name="text-22">
            <a:extLst xmlns:a="http://schemas.openxmlformats.org/drawingml/2006/main">
              <a:ext uri="{FF2B5EF4-FFF2-40B4-BE49-F238E27FC236}">
                <a16:creationId xmlns:a16="http://schemas.microsoft.com/office/drawing/2014/main" id="{0D38BFDD-A886-47F4-B4C0-FAADBCC0B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943350"/>
            <a:ext cx="1333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01828"/>
                </a:solidFill>
                <a:latin typeface="Times New Roman"/>
                <a:ea typeface="Times New Roman"/>
                <a:cs typeface="Times New Roman"/>
              </a:rPr>
              <a:t>Kết quả &amp; demo</a:t>
            </a:r>
          </a:p>
        </p:txBody>
      </p:sp>
      <p:sp>
        <p:nvSpPr>
          <p:cNvPr id="18" name="box-23">
            <a:extLst xmlns:a="http://schemas.openxmlformats.org/drawingml/2006/main">
              <a:ext uri="{FF2B5EF4-FFF2-40B4-BE49-F238E27FC236}">
                <a16:creationId xmlns:a16="http://schemas.microsoft.com/office/drawing/2014/main" id="{C7346A7C-6ED6-4863-A311-298E05F71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33147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ext-24">
            <a:extLst xmlns:a="http://schemas.openxmlformats.org/drawingml/2006/main">
              <a:ext uri="{FF2B5EF4-FFF2-40B4-BE49-F238E27FC236}">
                <a16:creationId xmlns:a16="http://schemas.microsoft.com/office/drawing/2014/main" id="{9E96DCCB-B044-41EF-9946-BC9200807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400300"/>
            <a:ext cx="990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101828"/>
                </a:solidFill>
                <a:latin typeface="Times New Roman"/>
                <a:ea typeface="Times New Roman"/>
                <a:cs typeface="Times New Roman"/>
              </a:rPr>
              <a:t>05</a:t>
            </a:r>
          </a:p>
        </p:txBody>
      </p:sp>
      <p:sp>
        <p:nvSpPr>
          <p:cNvPr id="20" name="text-25">
            <a:extLst xmlns:a="http://schemas.openxmlformats.org/drawingml/2006/main">
              <a:ext uri="{FF2B5EF4-FFF2-40B4-BE49-F238E27FC236}">
                <a16:creationId xmlns:a16="http://schemas.microsoft.com/office/drawing/2014/main" id="{7D6E59EC-E342-4866-96B0-F0BECD699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943350"/>
            <a:ext cx="1333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01828"/>
                </a:solidFill>
                <a:latin typeface="Times New Roman"/>
                <a:ea typeface="Times New Roman"/>
                <a:cs typeface="Times New Roman"/>
              </a:rPr>
              <a:t>Hạn chế &amp; hướng phát triển</a:t>
            </a:r>
          </a:p>
        </p:txBody>
      </p:sp>
    </p:spTree>
    <p:extLst>
      <p:ext uri="{BB962C8B-B14F-4D97-AF65-F5344CB8AC3E}">
        <p14:creationId xmlns:p14="http://schemas.microsoft.com/office/powerpoint/2010/main" val="40131017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ext-26">
            <a:extLst xmlns:a="http://schemas.openxmlformats.org/drawingml/2006/main">
              <a:ext uri="{FF2B5EF4-FFF2-40B4-BE49-F238E27FC236}">
                <a16:creationId xmlns:a16="http://schemas.microsoft.com/office/drawing/2014/main" id="{D75818B0-63B4-42FF-9DA6-0CBF92274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3D8DFF"/>
                </a:solidFill>
                <a:latin typeface="Times New Roman"/>
                <a:ea typeface="Times New Roman"/>
                <a:cs typeface="Times New Roman"/>
              </a:rPr>
              <a:t>BẢO VỆ KHÓA LUẬN</a:t>
            </a:r>
          </a:p>
        </p:txBody>
      </p:sp>
      <p:sp>
        <p:nvSpPr>
          <p:cNvPr id="2" name="text-27">
            <a:extLst xmlns:a="http://schemas.openxmlformats.org/drawingml/2006/main">
              <a:ext uri="{FF2B5EF4-FFF2-40B4-BE49-F238E27FC236}">
                <a16:creationId xmlns:a16="http://schemas.microsoft.com/office/drawing/2014/main" id="{7F617C6E-EB57-4A00-A9DD-9EB01AD9C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0810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101828"/>
                </a:solidFill>
                <a:latin typeface="Times New Roman"/>
                <a:ea typeface="Times New Roman"/>
                <a:cs typeface="Times New Roman"/>
              </a:rPr>
              <a:t>Mua nội thất trực tuyến khó ở cả quyết định lẫn vận hành</a:t>
            </a:r>
          </a:p>
        </p:txBody>
      </p:sp>
      <p:sp>
        <p:nvSpPr>
          <p:cNvPr id="3" name="line-28">
            <a:extLst xmlns:a="http://schemas.openxmlformats.org/drawingml/2006/main">
              <a:ext uri="{FF2B5EF4-FFF2-40B4-BE49-F238E27FC236}">
                <a16:creationId xmlns:a16="http://schemas.microsoft.com/office/drawing/2014/main" id="{D983DF33-DFE6-4201-98F8-D2762218A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113919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text-29">
            <a:extLst xmlns:a="http://schemas.openxmlformats.org/drawingml/2006/main">
              <a:ext uri="{FF2B5EF4-FFF2-40B4-BE49-F238E27FC236}">
                <a16:creationId xmlns:a16="http://schemas.microsoft.com/office/drawing/2014/main" id="{1F8FD0B8-F79C-4666-A3E0-E493DD862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722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5B6472"/>
                </a:solidFill>
                <a:latin typeface="Times New Roman"/>
                <a:ea typeface="Times New Roman"/>
                <a:cs typeface="Times New Roman"/>
              </a:rPr>
              <a:t>03</a:t>
            </a:r>
          </a:p>
        </p:txBody>
      </p:sp>
      <p:sp>
        <p:nvSpPr>
          <p:cNvPr id="5" name="text-30">
            <a:extLst xmlns:a="http://schemas.openxmlformats.org/drawingml/2006/main">
              <a:ext uri="{FF2B5EF4-FFF2-40B4-BE49-F238E27FC236}">
                <a16:creationId xmlns:a16="http://schemas.microsoft.com/office/drawing/2014/main" id="{0DC92E6D-8C7B-4E8B-B351-AE06DAF51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95450"/>
            <a:ext cx="11144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100" b="0" i="0">
                <a:solidFill>
                  <a:srgbClr val="101828"/>
                </a:solidFill>
                <a:latin typeface="Times New Roman"/>
                <a:ea typeface="Times New Roman"/>
                <a:cs typeface="Times New Roman"/>
              </a:rPr>
              <a:t>Khách hàng cần hình dung sản phẩm trong chính căn phòng; cửa hàng cần đồng bộ bán hàng, kho, thanh toán và giao nhận trên cùng một luồng dữ liệu.</a:t>
            </a:r>
          </a:p>
        </p:txBody>
      </p:sp>
      <p:sp>
        <p:nvSpPr>
          <p:cNvPr id="6" name="box-31">
            <a:extLst xmlns:a="http://schemas.openxmlformats.org/drawingml/2006/main">
              <a:ext uri="{FF2B5EF4-FFF2-40B4-BE49-F238E27FC236}">
                <a16:creationId xmlns:a16="http://schemas.microsoft.com/office/drawing/2014/main" id="{B0B85402-D869-41EC-B6D1-A16BE1CF0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33750"/>
            <a:ext cx="3543300" cy="245745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-32">
            <a:extLst xmlns:a="http://schemas.openxmlformats.org/drawingml/2006/main">
              <a:ext uri="{FF2B5EF4-FFF2-40B4-BE49-F238E27FC236}">
                <a16:creationId xmlns:a16="http://schemas.microsoft.com/office/drawing/2014/main" id="{A175F6D7-8526-40D2-83D5-A00F085D3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0045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3D8DFF"/>
                </a:solidFill>
                <a:latin typeface="Times New Roman"/>
                <a:ea typeface="Times New Roman"/>
                <a:cs typeface="Times New Roman"/>
              </a:rPr>
              <a:t>01</a:t>
            </a:r>
          </a:p>
        </p:txBody>
      </p:sp>
      <p:sp>
        <p:nvSpPr>
          <p:cNvPr id="8" name="text-33">
            <a:extLst xmlns:a="http://schemas.openxmlformats.org/drawingml/2006/main">
              <a:ext uri="{FF2B5EF4-FFF2-40B4-BE49-F238E27FC236}">
                <a16:creationId xmlns:a16="http://schemas.microsoft.com/office/drawing/2014/main" id="{DC442752-6F32-47EE-AF38-274F8FB30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33850"/>
            <a:ext cx="2971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101828"/>
                </a:solidFill>
                <a:latin typeface="Times New Roman"/>
                <a:ea typeface="Times New Roman"/>
                <a:cs typeface="Times New Roman"/>
              </a:rPr>
              <a:t>Khó hình dung</a:t>
            </a:r>
          </a:p>
        </p:txBody>
      </p:sp>
      <p:sp>
        <p:nvSpPr>
          <p:cNvPr id="9" name="text-34">
            <a:extLst xmlns:a="http://schemas.openxmlformats.org/drawingml/2006/main">
              <a:ext uri="{FF2B5EF4-FFF2-40B4-BE49-F238E27FC236}">
                <a16:creationId xmlns:a16="http://schemas.microsoft.com/office/drawing/2014/main" id="{5D7E3910-7FBD-46F7-BF81-E6F9FDAAE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14875"/>
            <a:ext cx="2971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B6472"/>
                </a:solidFill>
                <a:latin typeface="Times New Roman"/>
                <a:ea typeface="Times New Roman"/>
                <a:cs typeface="Times New Roman"/>
              </a:rPr>
              <a:t>Ảnh sản phẩm rời rạc chưa trả lời được câu hỏi: có hợp với không gian thật hay không?</a:t>
            </a:r>
          </a:p>
        </p:txBody>
      </p:sp>
      <p:sp>
        <p:nvSpPr>
          <p:cNvPr id="10" name="box-35">
            <a:extLst xmlns:a="http://schemas.openxmlformats.org/drawingml/2006/main">
              <a:ext uri="{FF2B5EF4-FFF2-40B4-BE49-F238E27FC236}">
                <a16:creationId xmlns:a16="http://schemas.microsoft.com/office/drawing/2014/main" id="{129DA26E-C0B7-4777-840A-C2E4AE990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333750"/>
            <a:ext cx="3543300" cy="245745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-36">
            <a:extLst xmlns:a="http://schemas.openxmlformats.org/drawingml/2006/main">
              <a:ext uri="{FF2B5EF4-FFF2-40B4-BE49-F238E27FC236}">
                <a16:creationId xmlns:a16="http://schemas.microsoft.com/office/drawing/2014/main" id="{A56C2FEA-25E9-4299-AB8F-175AD097A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60045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3D8DFF"/>
                </a:solidFill>
                <a:latin typeface="Times New Roman"/>
                <a:ea typeface="Times New Roman"/>
                <a:cs typeface="Times New Roman"/>
              </a:rPr>
              <a:t>02</a:t>
            </a:r>
          </a:p>
        </p:txBody>
      </p:sp>
      <p:sp>
        <p:nvSpPr>
          <p:cNvPr id="12" name="text-37">
            <a:extLst xmlns:a="http://schemas.openxmlformats.org/drawingml/2006/main">
              <a:ext uri="{FF2B5EF4-FFF2-40B4-BE49-F238E27FC236}">
                <a16:creationId xmlns:a16="http://schemas.microsoft.com/office/drawing/2014/main" id="{E005FC27-B329-45A5-9746-F9168D31B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133850"/>
            <a:ext cx="2971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101828"/>
                </a:solidFill>
                <a:latin typeface="Times New Roman"/>
                <a:ea typeface="Times New Roman"/>
                <a:cs typeface="Times New Roman"/>
              </a:rPr>
              <a:t>Quy trình phân mảnh</a:t>
            </a:r>
          </a:p>
        </p:txBody>
      </p:sp>
      <p:sp>
        <p:nvSpPr>
          <p:cNvPr id="13" name="text-38">
            <a:extLst xmlns:a="http://schemas.openxmlformats.org/drawingml/2006/main">
              <a:ext uri="{FF2B5EF4-FFF2-40B4-BE49-F238E27FC236}">
                <a16:creationId xmlns:a16="http://schemas.microsoft.com/office/drawing/2014/main" id="{1E90C28E-8A48-4ECE-A235-2F73340E6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714875"/>
            <a:ext cx="2971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B6472"/>
                </a:solidFill>
                <a:latin typeface="Times New Roman"/>
                <a:ea typeface="Times New Roman"/>
                <a:cs typeface="Times New Roman"/>
              </a:rPr>
              <a:t>Sản phẩm, tồn kho, đơn hàng và thanh toán dễ tách rời nếu thiếu một hệ thống trung tâm.</a:t>
            </a:r>
          </a:p>
        </p:txBody>
      </p:sp>
      <p:sp>
        <p:nvSpPr>
          <p:cNvPr id="14" name="box-39">
            <a:extLst xmlns:a="http://schemas.openxmlformats.org/drawingml/2006/main">
              <a:ext uri="{FF2B5EF4-FFF2-40B4-BE49-F238E27FC236}">
                <a16:creationId xmlns:a16="http://schemas.microsoft.com/office/drawing/2014/main" id="{5F50218C-8332-4385-9EE9-8A481D135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333750"/>
            <a:ext cx="3543300" cy="245745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-40">
            <a:extLst xmlns:a="http://schemas.openxmlformats.org/drawingml/2006/main">
              <a:ext uri="{FF2B5EF4-FFF2-40B4-BE49-F238E27FC236}">
                <a16:creationId xmlns:a16="http://schemas.microsoft.com/office/drawing/2014/main" id="{25F8C020-5987-4B61-9071-5EAA7B99F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60045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3D8DFF"/>
                </a:solidFill>
                <a:latin typeface="Times New Roman"/>
                <a:ea typeface="Times New Roman"/>
                <a:cs typeface="Times New Roman"/>
              </a:rPr>
              <a:t>03</a:t>
            </a:r>
          </a:p>
        </p:txBody>
      </p:sp>
      <p:sp>
        <p:nvSpPr>
          <p:cNvPr id="16" name="text-41">
            <a:extLst xmlns:a="http://schemas.openxmlformats.org/drawingml/2006/main">
              <a:ext uri="{FF2B5EF4-FFF2-40B4-BE49-F238E27FC236}">
                <a16:creationId xmlns:a16="http://schemas.microsoft.com/office/drawing/2014/main" id="{13596377-88D0-4061-BA8E-1C4743627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133850"/>
            <a:ext cx="2971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101828"/>
                </a:solidFill>
                <a:latin typeface="Times New Roman"/>
                <a:ea typeface="Times New Roman"/>
                <a:cs typeface="Times New Roman"/>
              </a:rPr>
              <a:t>Giao nhận phức tạp</a:t>
            </a:r>
          </a:p>
        </p:txBody>
      </p:sp>
      <p:sp>
        <p:nvSpPr>
          <p:cNvPr id="17" name="text-42">
            <a:extLst xmlns:a="http://schemas.openxmlformats.org/drawingml/2006/main">
              <a:ext uri="{FF2B5EF4-FFF2-40B4-BE49-F238E27FC236}">
                <a16:creationId xmlns:a16="http://schemas.microsoft.com/office/drawing/2014/main" id="{C6E825A9-E496-4C77-B74A-F8AE91905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714875"/>
            <a:ext cx="2971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B6472"/>
                </a:solidFill>
                <a:latin typeface="Times New Roman"/>
                <a:ea typeface="Times New Roman"/>
                <a:cs typeface="Times New Roman"/>
              </a:rPr>
              <a:t>Nội thất cồng kềnh cần phân công, lắp đặt, chứng từ và xử lý sự cố xuyên suốt.</a:t>
            </a:r>
          </a:p>
        </p:txBody>
      </p:sp>
    </p:spTree>
    <p:extLst>
      <p:ext uri="{BB962C8B-B14F-4D97-AF65-F5344CB8AC3E}">
        <p14:creationId xmlns:p14="http://schemas.microsoft.com/office/powerpoint/2010/main" val="144800101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text-43">
            <a:extLst xmlns:a="http://schemas.openxmlformats.org/drawingml/2006/main">
              <a:ext uri="{FF2B5EF4-FFF2-40B4-BE49-F238E27FC236}">
                <a16:creationId xmlns:a16="http://schemas.microsoft.com/office/drawing/2014/main" id="{5ED18608-BA9C-437C-9A6D-2170F8284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3D8DFF"/>
                </a:solidFill>
                <a:latin typeface="Times New Roman"/>
                <a:ea typeface="Times New Roman"/>
                <a:cs typeface="Times New Roman"/>
              </a:rPr>
              <a:t>BẢO VỆ KHÓA LUẬN</a:t>
            </a:r>
          </a:p>
        </p:txBody>
      </p:sp>
      <p:sp>
        <p:nvSpPr>
          <p:cNvPr id="2" name="text-44">
            <a:extLst xmlns:a="http://schemas.openxmlformats.org/drawingml/2006/main">
              <a:ext uri="{FF2B5EF4-FFF2-40B4-BE49-F238E27FC236}">
                <a16:creationId xmlns:a16="http://schemas.microsoft.com/office/drawing/2014/main" id="{E466CC77-9541-40DA-BA82-955830129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0810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101828"/>
                </a:solidFill>
                <a:latin typeface="Times New Roman"/>
                <a:ea typeface="Times New Roman"/>
                <a:cs typeface="Times New Roman"/>
              </a:rPr>
              <a:t>Mục tiêu và phạm vi triển khai</a:t>
            </a:r>
          </a:p>
        </p:txBody>
      </p:sp>
      <p:sp>
        <p:nvSpPr>
          <p:cNvPr id="3" name="line-45">
            <a:extLst xmlns:a="http://schemas.openxmlformats.org/drawingml/2006/main">
              <a:ext uri="{FF2B5EF4-FFF2-40B4-BE49-F238E27FC236}">
                <a16:creationId xmlns:a16="http://schemas.microsoft.com/office/drawing/2014/main" id="{6F02B95F-B3C3-4721-9134-A2E827C40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113919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text-46">
            <a:extLst xmlns:a="http://schemas.openxmlformats.org/drawingml/2006/main">
              <a:ext uri="{FF2B5EF4-FFF2-40B4-BE49-F238E27FC236}">
                <a16:creationId xmlns:a16="http://schemas.microsoft.com/office/drawing/2014/main" id="{A6B5111F-81B1-4982-A6CC-760A9B8B1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722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5B6472"/>
                </a:solidFill>
                <a:latin typeface="Times New Roman"/>
                <a:ea typeface="Times New Roman"/>
                <a:cs typeface="Times New Roman"/>
              </a:rPr>
              <a:t>04</a:t>
            </a:r>
          </a:p>
        </p:txBody>
      </p:sp>
      <p:sp>
        <p:nvSpPr>
          <p:cNvPr id="5" name="line-47">
            <a:extLst xmlns:a="http://schemas.openxmlformats.org/drawingml/2006/main">
              <a:ext uri="{FF2B5EF4-FFF2-40B4-BE49-F238E27FC236}">
                <a16:creationId xmlns:a16="http://schemas.microsoft.com/office/drawing/2014/main" id="{B1AA8D5A-53A0-4992-BC39-666CF8D2F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57400"/>
            <a:ext cx="3143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3D8DFF"/>
            </a:solidFill>
            <a:prstDash val="solid"/>
          </a:ln>
        </p:spPr>
      </p:sp>
      <p:sp>
        <p:nvSpPr>
          <p:cNvPr id="6" name="text-48">
            <a:extLst xmlns:a="http://schemas.openxmlformats.org/drawingml/2006/main">
              <a:ext uri="{FF2B5EF4-FFF2-40B4-BE49-F238E27FC236}">
                <a16:creationId xmlns:a16="http://schemas.microsoft.com/office/drawing/2014/main" id="{AC934FA4-0AE3-435C-82FF-087875890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28850"/>
            <a:ext cx="314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750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3900" b="1" i="0">
                <a:solidFill>
                  <a:srgbClr val="101828"/>
                </a:solidFill>
                <a:latin typeface="Times New Roman"/>
                <a:ea typeface="Times New Roman"/>
                <a:cs typeface="Times New Roman"/>
              </a:rPr>
              <a:t>03</a:t>
            </a:r>
          </a:p>
        </p:txBody>
      </p:sp>
      <p:sp>
        <p:nvSpPr>
          <p:cNvPr id="7" name="text-49">
            <a:extLst xmlns:a="http://schemas.openxmlformats.org/drawingml/2006/main">
              <a:ext uri="{FF2B5EF4-FFF2-40B4-BE49-F238E27FC236}">
                <a16:creationId xmlns:a16="http://schemas.microsoft.com/office/drawing/2014/main" id="{4671F003-E9F9-493E-AF07-E53D9111E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0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B6472"/>
                </a:solidFill>
                <a:latin typeface="Times New Roman"/>
                <a:ea typeface="Times New Roman"/>
                <a:cs typeface="Times New Roman"/>
              </a:rPr>
              <a:t>vai trò sử dụng: Khách hàng, Admin, Shipper</a:t>
            </a:r>
          </a:p>
        </p:txBody>
      </p:sp>
      <p:sp>
        <p:nvSpPr>
          <p:cNvPr id="8" name="line-50">
            <a:extLst xmlns:a="http://schemas.openxmlformats.org/drawingml/2006/main">
              <a:ext uri="{FF2B5EF4-FFF2-40B4-BE49-F238E27FC236}">
                <a16:creationId xmlns:a16="http://schemas.microsoft.com/office/drawing/2014/main" id="{5E4FF3F1-B1A7-432D-8ED6-229C8D19F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057400"/>
            <a:ext cx="3143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18A56A"/>
            </a:solidFill>
            <a:prstDash val="solid"/>
          </a:ln>
        </p:spPr>
      </p:sp>
      <p:sp>
        <p:nvSpPr>
          <p:cNvPr id="9" name="text-51">
            <a:extLst xmlns:a="http://schemas.openxmlformats.org/drawingml/2006/main">
              <a:ext uri="{FF2B5EF4-FFF2-40B4-BE49-F238E27FC236}">
                <a16:creationId xmlns:a16="http://schemas.microsoft.com/office/drawing/2014/main" id="{6E78FB99-1F52-4066-B8D7-2A255121D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228850"/>
            <a:ext cx="314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750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3900" b="1" i="0">
                <a:solidFill>
                  <a:srgbClr val="101828"/>
                </a:solidFill>
                <a:latin typeface="Times New Roman"/>
                <a:ea typeface="Times New Roman"/>
                <a:cs typeface="Times New Roman"/>
              </a:rPr>
              <a:t>01</a:t>
            </a:r>
          </a:p>
        </p:txBody>
      </p:sp>
      <p:sp>
        <p:nvSpPr>
          <p:cNvPr id="10" name="text-52">
            <a:extLst xmlns:a="http://schemas.openxmlformats.org/drawingml/2006/main">
              <a:ext uri="{FF2B5EF4-FFF2-40B4-BE49-F238E27FC236}">
                <a16:creationId xmlns:a16="http://schemas.microsoft.com/office/drawing/2014/main" id="{563731AC-3DAC-45A6-8209-EC1F6A9F8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857500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B6472"/>
                </a:solidFill>
                <a:latin typeface="Times New Roman"/>
                <a:ea typeface="Times New Roman"/>
                <a:cs typeface="Times New Roman"/>
              </a:rPr>
              <a:t>quy trình dữ liệu xuyên suốt từ tìm kiếm đến giao hàng</a:t>
            </a:r>
          </a:p>
        </p:txBody>
      </p:sp>
      <p:sp>
        <p:nvSpPr>
          <p:cNvPr id="11" name="line-53">
            <a:extLst xmlns:a="http://schemas.openxmlformats.org/drawingml/2006/main">
              <a:ext uri="{FF2B5EF4-FFF2-40B4-BE49-F238E27FC236}">
                <a16:creationId xmlns:a16="http://schemas.microsoft.com/office/drawing/2014/main" id="{521A62F1-CE79-435D-AD49-DB2AC78CD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057400"/>
            <a:ext cx="3143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E99B2E"/>
            </a:solidFill>
            <a:prstDash val="solid"/>
          </a:ln>
        </p:spPr>
      </p:sp>
      <p:sp>
        <p:nvSpPr>
          <p:cNvPr id="12" name="text-54">
            <a:extLst xmlns:a="http://schemas.openxmlformats.org/drawingml/2006/main">
              <a:ext uri="{FF2B5EF4-FFF2-40B4-BE49-F238E27FC236}">
                <a16:creationId xmlns:a16="http://schemas.microsoft.com/office/drawing/2014/main" id="{CB63457A-8E37-4D28-991F-241F91862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228850"/>
            <a:ext cx="314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750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3900" b="1" i="0">
                <a:solidFill>
                  <a:srgbClr val="101828"/>
                </a:solidFill>
                <a:latin typeface="Times New Roman"/>
                <a:ea typeface="Times New Roman"/>
                <a:cs typeface="Times New Roman"/>
              </a:rPr>
              <a:t>02</a:t>
            </a:r>
          </a:p>
        </p:txBody>
      </p:sp>
      <p:sp>
        <p:nvSpPr>
          <p:cNvPr id="13" name="text-55">
            <a:extLst xmlns:a="http://schemas.openxmlformats.org/drawingml/2006/main">
              <a:ext uri="{FF2B5EF4-FFF2-40B4-BE49-F238E27FC236}">
                <a16:creationId xmlns:a16="http://schemas.microsoft.com/office/drawing/2014/main" id="{CAD05095-1951-4E8A-A89D-00CA8D88D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857500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B6472"/>
                </a:solidFill>
                <a:latin typeface="Times New Roman"/>
                <a:ea typeface="Times New Roman"/>
                <a:cs typeface="Times New Roman"/>
              </a:rPr>
              <a:t>chế độ phối cảnh: điều chỉnh thủ công và AI tạo ảnh</a:t>
            </a:r>
          </a:p>
        </p:txBody>
      </p:sp>
      <p:sp>
        <p:nvSpPr>
          <p:cNvPr id="14" name="line-56">
            <a:extLst xmlns:a="http://schemas.openxmlformats.org/drawingml/2006/main">
              <a:ext uri="{FF2B5EF4-FFF2-40B4-BE49-F238E27FC236}">
                <a16:creationId xmlns:a16="http://schemas.microsoft.com/office/drawing/2014/main" id="{4D515D64-6B5C-4E60-851A-DFF06FC92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33850"/>
            <a:ext cx="113919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text-57">
            <a:extLst xmlns:a="http://schemas.openxmlformats.org/drawingml/2006/main">
              <a:ext uri="{FF2B5EF4-FFF2-40B4-BE49-F238E27FC236}">
                <a16:creationId xmlns:a16="http://schemas.microsoft.com/office/drawing/2014/main" id="{E731B562-035D-4526-A115-FBE03BAAD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19600"/>
            <a:ext cx="323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101828"/>
                </a:solidFill>
                <a:latin typeface="Times New Roman"/>
                <a:ea typeface="Times New Roman"/>
                <a:cs typeface="Times New Roman"/>
              </a:rPr>
              <a:t>Trong phạm vi</a:t>
            </a:r>
          </a:p>
        </p:txBody>
      </p:sp>
      <p:sp>
        <p:nvSpPr>
          <p:cNvPr id="16" name="box-58">
            <a:extLst xmlns:a="http://schemas.openxmlformats.org/drawingml/2006/main">
              <a:ext uri="{FF2B5EF4-FFF2-40B4-BE49-F238E27FC236}">
                <a16:creationId xmlns:a16="http://schemas.microsoft.com/office/drawing/2014/main" id="{226A34C4-7AB8-4A08-9ABB-86DBA1A2A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815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text-59">
            <a:extLst xmlns:a="http://schemas.openxmlformats.org/drawingml/2006/main">
              <a:ext uri="{FF2B5EF4-FFF2-40B4-BE49-F238E27FC236}">
                <a16:creationId xmlns:a16="http://schemas.microsoft.com/office/drawing/2014/main" id="{B58082F0-FB7B-43F6-A280-76DD7E549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05375"/>
            <a:ext cx="4724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01828"/>
                </a:solidFill>
                <a:latin typeface="Times New Roman"/>
                <a:ea typeface="Times New Roman"/>
                <a:cs typeface="Times New Roman"/>
              </a:rPr>
              <a:t>Thương mại điện tử nội thất đầy đủ nghiệp vụ chính</a:t>
            </a:r>
          </a:p>
        </p:txBody>
      </p:sp>
      <p:sp>
        <p:nvSpPr>
          <p:cNvPr id="18" name="box-60">
            <a:extLst xmlns:a="http://schemas.openxmlformats.org/drawingml/2006/main">
              <a:ext uri="{FF2B5EF4-FFF2-40B4-BE49-F238E27FC236}">
                <a16:creationId xmlns:a16="http://schemas.microsoft.com/office/drawing/2014/main" id="{400F6DDC-2C6E-44DD-9B02-F60BCB6BD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959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ext-61">
            <a:extLst xmlns:a="http://schemas.openxmlformats.org/drawingml/2006/main">
              <a:ext uri="{FF2B5EF4-FFF2-40B4-BE49-F238E27FC236}">
                <a16:creationId xmlns:a16="http://schemas.microsoft.com/office/drawing/2014/main" id="{815049D9-47D2-44C4-AB44-B41500AD3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419725"/>
            <a:ext cx="4724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01828"/>
                </a:solidFill>
                <a:latin typeface="Times New Roman"/>
                <a:ea typeface="Times New Roman"/>
                <a:cs typeface="Times New Roman"/>
              </a:rPr>
              <a:t>Đề xuất sản phẩm và phối cảnh trên ảnh phòng thật</a:t>
            </a:r>
          </a:p>
        </p:txBody>
      </p:sp>
      <p:sp>
        <p:nvSpPr>
          <p:cNvPr id="20" name="text-62">
            <a:extLst xmlns:a="http://schemas.openxmlformats.org/drawingml/2006/main">
              <a:ext uri="{FF2B5EF4-FFF2-40B4-BE49-F238E27FC236}">
                <a16:creationId xmlns:a16="http://schemas.microsoft.com/office/drawing/2014/main" id="{DC57400C-4E28-439F-866B-E6E3E3531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419600"/>
            <a:ext cx="323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101828"/>
                </a:solidFill>
                <a:latin typeface="Times New Roman"/>
                <a:ea typeface="Times New Roman"/>
                <a:cs typeface="Times New Roman"/>
              </a:rPr>
              <a:t>Ngoài phạm vi</a:t>
            </a:r>
          </a:p>
        </p:txBody>
      </p:sp>
      <p:sp>
        <p:nvSpPr>
          <p:cNvPr id="21" name="box-63">
            <a:extLst xmlns:a="http://schemas.openxmlformats.org/drawingml/2006/main">
              <a:ext uri="{FF2B5EF4-FFF2-40B4-BE49-F238E27FC236}">
                <a16:creationId xmlns:a16="http://schemas.microsoft.com/office/drawing/2014/main" id="{9E6A47BB-9B16-41A8-8373-0F2C7E2A2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9815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64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ext-64">
            <a:extLst xmlns:a="http://schemas.openxmlformats.org/drawingml/2006/main">
              <a:ext uri="{FF2B5EF4-FFF2-40B4-BE49-F238E27FC236}">
                <a16:creationId xmlns:a16="http://schemas.microsoft.com/office/drawing/2014/main" id="{D8548B9D-89CF-4783-82FF-92D667AC1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905375"/>
            <a:ext cx="4724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01828"/>
                </a:solidFill>
                <a:latin typeface="Times New Roman"/>
                <a:ea typeface="Times New Roman"/>
                <a:cs typeface="Times New Roman"/>
              </a:rPr>
              <a:t>Huấn luyện mô hình AI chuyên biệt từ đầu</a:t>
            </a:r>
          </a:p>
        </p:txBody>
      </p:sp>
      <p:sp>
        <p:nvSpPr>
          <p:cNvPr id="23" name="box-65">
            <a:extLst xmlns:a="http://schemas.openxmlformats.org/drawingml/2006/main">
              <a:ext uri="{FF2B5EF4-FFF2-40B4-BE49-F238E27FC236}">
                <a16:creationId xmlns:a16="http://schemas.microsoft.com/office/drawing/2014/main" id="{A3C09083-A8A4-48EA-8CC9-567C495EC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4959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64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-66">
            <a:extLst xmlns:a="http://schemas.openxmlformats.org/drawingml/2006/main">
              <a:ext uri="{FF2B5EF4-FFF2-40B4-BE49-F238E27FC236}">
                <a16:creationId xmlns:a16="http://schemas.microsoft.com/office/drawing/2014/main" id="{8DE7390E-F05D-494D-B5DF-8B5E7AC78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5419725"/>
            <a:ext cx="4724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01828"/>
                </a:solidFill>
                <a:latin typeface="Times New Roman"/>
                <a:ea typeface="Times New Roman"/>
                <a:cs typeface="Times New Roman"/>
              </a:rPr>
              <a:t>Tối ưu hạ tầng cho quy mô người dùng rất lớn</a:t>
            </a:r>
          </a:p>
        </p:txBody>
      </p:sp>
    </p:spTree>
    <p:extLst>
      <p:ext uri="{BB962C8B-B14F-4D97-AF65-F5344CB8AC3E}">
        <p14:creationId xmlns:p14="http://schemas.microsoft.com/office/powerpoint/2010/main" val="144811857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text-67">
            <a:extLst xmlns:a="http://schemas.openxmlformats.org/drawingml/2006/main">
              <a:ext uri="{FF2B5EF4-FFF2-40B4-BE49-F238E27FC236}">
                <a16:creationId xmlns:a16="http://schemas.microsoft.com/office/drawing/2014/main" id="{7CE9CE8D-4564-41B5-9B0A-5FC37B219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3D8DFF"/>
                </a:solidFill>
                <a:latin typeface="Times New Roman"/>
                <a:ea typeface="Times New Roman"/>
                <a:cs typeface="Times New Roman"/>
              </a:rPr>
              <a:t>BẢO VỆ KHÓA LUẬN</a:t>
            </a:r>
          </a:p>
        </p:txBody>
      </p:sp>
      <p:sp>
        <p:nvSpPr>
          <p:cNvPr id="2" name="text-68">
            <a:extLst xmlns:a="http://schemas.openxmlformats.org/drawingml/2006/main">
              <a:ext uri="{FF2B5EF4-FFF2-40B4-BE49-F238E27FC236}">
                <a16:creationId xmlns:a16="http://schemas.microsoft.com/office/drawing/2014/main" id="{9B1F81A4-FF6C-40AE-B15D-812B253F0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0810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101828"/>
                </a:solidFill>
                <a:latin typeface="Times New Roman"/>
                <a:ea typeface="Times New Roman"/>
                <a:cs typeface="Times New Roman"/>
              </a:rPr>
              <a:t>Một nền tảng kết nối ba vai trò quanh cùng đơn hàng</a:t>
            </a:r>
          </a:p>
        </p:txBody>
      </p:sp>
      <p:sp>
        <p:nvSpPr>
          <p:cNvPr id="3" name="line-69">
            <a:extLst xmlns:a="http://schemas.openxmlformats.org/drawingml/2006/main">
              <a:ext uri="{FF2B5EF4-FFF2-40B4-BE49-F238E27FC236}">
                <a16:creationId xmlns:a16="http://schemas.microsoft.com/office/drawing/2014/main" id="{68708507-5876-441E-B7C6-E7496DBC2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113919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text-70">
            <a:extLst xmlns:a="http://schemas.openxmlformats.org/drawingml/2006/main">
              <a:ext uri="{FF2B5EF4-FFF2-40B4-BE49-F238E27FC236}">
                <a16:creationId xmlns:a16="http://schemas.microsoft.com/office/drawing/2014/main" id="{D00E7C61-D193-4876-9432-BE2825CEA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722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5B6472"/>
                </a:solidFill>
                <a:latin typeface="Times New Roman"/>
                <a:ea typeface="Times New Roman"/>
                <a:cs typeface="Times New Roman"/>
              </a:rPr>
              <a:t>05</a:t>
            </a:r>
          </a:p>
        </p:txBody>
      </p:sp>
      <p:sp>
        <p:nvSpPr>
          <p:cNvPr id="5" name="line-71">
            <a:extLst xmlns:a="http://schemas.openxmlformats.org/drawingml/2006/main">
              <a:ext uri="{FF2B5EF4-FFF2-40B4-BE49-F238E27FC236}">
                <a16:creationId xmlns:a16="http://schemas.microsoft.com/office/drawing/2014/main" id="{8DE42C78-7C95-484A-9F26-6690E35DE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3476625"/>
            <a:ext cx="8096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8BCC4"/>
            </a:solidFill>
            <a:prstDash val="solid"/>
          </a:ln>
        </p:spPr>
      </p:sp>
      <p:sp>
        <p:nvSpPr>
          <p:cNvPr id="6" name="box-72">
            <a:extLst xmlns:a="http://schemas.openxmlformats.org/drawingml/2006/main">
              <a:ext uri="{FF2B5EF4-FFF2-40B4-BE49-F238E27FC236}">
                <a16:creationId xmlns:a16="http://schemas.microsoft.com/office/drawing/2014/main" id="{37A7D9EE-6D48-4C9A-BEB1-6FB276E56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057400"/>
            <a:ext cx="342900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box-73">
            <a:extLst xmlns:a="http://schemas.openxmlformats.org/drawingml/2006/main">
              <a:ext uri="{FF2B5EF4-FFF2-40B4-BE49-F238E27FC236}">
                <a16:creationId xmlns:a16="http://schemas.microsoft.com/office/drawing/2014/main" id="{F0E739D7-F439-4A29-BBE4-EDA9D9CCA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33625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-74">
            <a:extLst xmlns:a="http://schemas.openxmlformats.org/drawingml/2006/main">
              <a:ext uri="{FF2B5EF4-FFF2-40B4-BE49-F238E27FC236}">
                <a16:creationId xmlns:a16="http://schemas.microsoft.com/office/drawing/2014/main" id="{B6567F77-370B-406A-8BA4-B2405E579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1935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sp>
        <p:nvSpPr>
          <p:cNvPr id="9" name="text-75">
            <a:extLst xmlns:a="http://schemas.openxmlformats.org/drawingml/2006/main">
              <a:ext uri="{FF2B5EF4-FFF2-40B4-BE49-F238E27FC236}">
                <a16:creationId xmlns:a16="http://schemas.microsoft.com/office/drawing/2014/main" id="{2605B779-7BCB-4EB3-B7E0-133F6EEA2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051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3D8DFF"/>
                </a:solidFill>
                <a:latin typeface="Times New Roman"/>
                <a:ea typeface="Times New Roman"/>
                <a:cs typeface="Times New Roman"/>
              </a:rPr>
              <a:t>KHÁCH HÀNG</a:t>
            </a:r>
          </a:p>
        </p:txBody>
      </p:sp>
      <p:sp>
        <p:nvSpPr>
          <p:cNvPr id="10" name="text-76">
            <a:extLst xmlns:a="http://schemas.openxmlformats.org/drawingml/2006/main">
              <a:ext uri="{FF2B5EF4-FFF2-40B4-BE49-F238E27FC236}">
                <a16:creationId xmlns:a16="http://schemas.microsoft.com/office/drawing/2014/main" id="{DE245F4C-039A-4754-B619-E9A77E5CB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1475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01828"/>
                </a:solidFill>
                <a:latin typeface="Times New Roman"/>
                <a:ea typeface="Times New Roman"/>
                <a:cs typeface="Times New Roman"/>
              </a:rPr>
              <a:t>Khám phá • chọn biến thể</a:t>
            </a:r>
          </a:p>
          <a:p xmlns:a="http://schemas.openxmlformats.org/drawingml/2006/main">
            <a:pPr algn="l">
              <a:buNone/>
              <a:defRPr sz="1425" b="0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01828"/>
                </a:solidFill>
                <a:latin typeface="Times New Roman"/>
                <a:ea typeface="Times New Roman"/>
                <a:cs typeface="Times New Roman"/>
              </a:rPr>
              <a:t>Giỏ hàng • VNPay • đánh giá</a:t>
            </a:r>
          </a:p>
          <a:p xmlns:a="http://schemas.openxmlformats.org/drawingml/2006/main">
            <a:pPr algn="l">
              <a:buNone/>
              <a:defRPr sz="1425" b="0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01828"/>
                </a:solidFill>
                <a:latin typeface="Times New Roman"/>
                <a:ea typeface="Times New Roman"/>
                <a:cs typeface="Times New Roman"/>
              </a:rPr>
              <a:t>Trợ lý AI • thiết kế phòng</a:t>
            </a:r>
          </a:p>
        </p:txBody>
      </p:sp>
      <p:sp>
        <p:nvSpPr>
          <p:cNvPr id="11" name="box-77">
            <a:extLst xmlns:a="http://schemas.openxmlformats.org/drawingml/2006/main">
              <a:ext uri="{FF2B5EF4-FFF2-40B4-BE49-F238E27FC236}">
                <a16:creationId xmlns:a16="http://schemas.microsoft.com/office/drawing/2014/main" id="{F4F69A83-575B-4B4A-9D7C-257431849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057400"/>
            <a:ext cx="342900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box-78">
            <a:extLst xmlns:a="http://schemas.openxmlformats.org/drawingml/2006/main">
              <a:ext uri="{FF2B5EF4-FFF2-40B4-BE49-F238E27FC236}">
                <a16:creationId xmlns:a16="http://schemas.microsoft.com/office/drawing/2014/main" id="{B7309838-C605-4B6C-9589-767695648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333625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A5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-79">
            <a:extLst xmlns:a="http://schemas.openxmlformats.org/drawingml/2006/main">
              <a:ext uri="{FF2B5EF4-FFF2-40B4-BE49-F238E27FC236}">
                <a16:creationId xmlns:a16="http://schemas.microsoft.com/office/drawing/2014/main" id="{8BD0533C-3EEB-4419-98CA-653288324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41935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</a:t>
            </a:r>
          </a:p>
        </p:txBody>
      </p:sp>
      <p:sp>
        <p:nvSpPr>
          <p:cNvPr id="14" name="text-80">
            <a:extLst xmlns:a="http://schemas.openxmlformats.org/drawingml/2006/main">
              <a:ext uri="{FF2B5EF4-FFF2-40B4-BE49-F238E27FC236}">
                <a16:creationId xmlns:a16="http://schemas.microsoft.com/office/drawing/2014/main" id="{8AB16066-EB5A-4277-B076-9DC1E55FE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1051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18A56A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8A56A"/>
                </a:solidFill>
                <a:latin typeface="Times New Roman"/>
                <a:ea typeface="Times New Roman"/>
                <a:cs typeface="Times New Roman"/>
              </a:rPr>
              <a:t>QUẢN TRỊ VIÊN</a:t>
            </a:r>
          </a:p>
        </p:txBody>
      </p:sp>
      <p:sp>
        <p:nvSpPr>
          <p:cNvPr id="15" name="text-81">
            <a:extLst xmlns:a="http://schemas.openxmlformats.org/drawingml/2006/main">
              <a:ext uri="{FF2B5EF4-FFF2-40B4-BE49-F238E27FC236}">
                <a16:creationId xmlns:a16="http://schemas.microsoft.com/office/drawing/2014/main" id="{2A40AEA7-2CD6-40EA-B2B8-3664F8FAA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71475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01828"/>
                </a:solidFill>
                <a:latin typeface="Times New Roman"/>
                <a:ea typeface="Times New Roman"/>
                <a:cs typeface="Times New Roman"/>
              </a:rPr>
              <a:t>Sản phẩm • tồn kho • voucher</a:t>
            </a:r>
          </a:p>
          <a:p xmlns:a="http://schemas.openxmlformats.org/drawingml/2006/main">
            <a:pPr algn="l">
              <a:buNone/>
              <a:defRPr sz="1425" b="0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01828"/>
                </a:solidFill>
                <a:latin typeface="Times New Roman"/>
                <a:ea typeface="Times New Roman"/>
                <a:cs typeface="Times New Roman"/>
              </a:rPr>
              <a:t>Đơn hàng • doanh thu • hỗ trợ</a:t>
            </a:r>
          </a:p>
          <a:p xmlns:a="http://schemas.openxmlformats.org/drawingml/2006/main">
            <a:pPr algn="l">
              <a:buNone/>
              <a:defRPr sz="1425" b="0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01828"/>
                </a:solidFill>
                <a:latin typeface="Times New Roman"/>
                <a:ea typeface="Times New Roman"/>
                <a:cs typeface="Times New Roman"/>
              </a:rPr>
              <a:t>Đề xuất • điều phối giao hàng</a:t>
            </a:r>
          </a:p>
        </p:txBody>
      </p:sp>
      <p:sp>
        <p:nvSpPr>
          <p:cNvPr id="16" name="box-82">
            <a:extLst xmlns:a="http://schemas.openxmlformats.org/drawingml/2006/main">
              <a:ext uri="{FF2B5EF4-FFF2-40B4-BE49-F238E27FC236}">
                <a16:creationId xmlns:a16="http://schemas.microsoft.com/office/drawing/2014/main" id="{2F95FBA6-7292-4E31-BA49-67B61C07F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057400"/>
            <a:ext cx="342900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box-83">
            <a:extLst xmlns:a="http://schemas.openxmlformats.org/drawingml/2006/main">
              <a:ext uri="{FF2B5EF4-FFF2-40B4-BE49-F238E27FC236}">
                <a16:creationId xmlns:a16="http://schemas.microsoft.com/office/drawing/2014/main" id="{54D77CC6-3E77-43A6-ADEF-D90958415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333625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9B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-84">
            <a:extLst xmlns:a="http://schemas.openxmlformats.org/drawingml/2006/main">
              <a:ext uri="{FF2B5EF4-FFF2-40B4-BE49-F238E27FC236}">
                <a16:creationId xmlns:a16="http://schemas.microsoft.com/office/drawing/2014/main" id="{B000E87C-8D49-4546-AEED-69093DB4B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41935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3</a:t>
            </a:r>
          </a:p>
        </p:txBody>
      </p:sp>
      <p:sp>
        <p:nvSpPr>
          <p:cNvPr id="19" name="text-85">
            <a:extLst xmlns:a="http://schemas.openxmlformats.org/drawingml/2006/main">
              <a:ext uri="{FF2B5EF4-FFF2-40B4-BE49-F238E27FC236}">
                <a16:creationId xmlns:a16="http://schemas.microsoft.com/office/drawing/2014/main" id="{EC26E5C7-1254-4B57-8BB6-5B1B72BC0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1051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E99B2E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E99B2E"/>
                </a:solidFill>
                <a:latin typeface="Times New Roman"/>
                <a:ea typeface="Times New Roman"/>
                <a:cs typeface="Times New Roman"/>
              </a:rPr>
              <a:t>NHÂN VIÊN GIAO HÀNG</a:t>
            </a:r>
          </a:p>
        </p:txBody>
      </p:sp>
      <p:sp>
        <p:nvSpPr>
          <p:cNvPr id="20" name="text-86">
            <a:extLst xmlns:a="http://schemas.openxmlformats.org/drawingml/2006/main">
              <a:ext uri="{FF2B5EF4-FFF2-40B4-BE49-F238E27FC236}">
                <a16:creationId xmlns:a16="http://schemas.microsoft.com/office/drawing/2014/main" id="{08414BC4-F25F-4F07-8C22-7C607F271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71475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01828"/>
                </a:solidFill>
                <a:latin typeface="Times New Roman"/>
                <a:ea typeface="Times New Roman"/>
                <a:cs typeface="Times New Roman"/>
              </a:rPr>
              <a:t>Trạng thái ca làm</a:t>
            </a:r>
          </a:p>
          <a:p xmlns:a="http://schemas.openxmlformats.org/drawingml/2006/main">
            <a:pPr algn="l">
              <a:buNone/>
              <a:defRPr sz="1425" b="0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01828"/>
                </a:solidFill>
                <a:latin typeface="Times New Roman"/>
                <a:ea typeface="Times New Roman"/>
                <a:cs typeface="Times New Roman"/>
              </a:rPr>
              <a:t>Nhận đơn • cập nhật kết quả</a:t>
            </a:r>
          </a:p>
          <a:p xmlns:a="http://schemas.openxmlformats.org/drawingml/2006/main">
            <a:pPr algn="l">
              <a:buNone/>
              <a:defRPr sz="1425" b="0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01828"/>
                </a:solidFill>
                <a:latin typeface="Times New Roman"/>
                <a:ea typeface="Times New Roman"/>
                <a:cs typeface="Times New Roman"/>
              </a:rPr>
              <a:t>Bằng chứng • sự cố • hẹn lại</a:t>
            </a:r>
          </a:p>
        </p:txBody>
      </p:sp>
      <p:sp>
        <p:nvSpPr>
          <p:cNvPr id="21" name="text-87">
            <a:extLst xmlns:a="http://schemas.openxmlformats.org/drawingml/2006/main">
              <a:ext uri="{FF2B5EF4-FFF2-40B4-BE49-F238E27FC236}">
                <a16:creationId xmlns:a16="http://schemas.microsoft.com/office/drawing/2014/main" id="{6E391B64-0D0A-4DA0-B6DE-C1AAE9EF5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657850"/>
            <a:ext cx="942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01828"/>
                </a:solidFill>
                <a:latin typeface="Times New Roman"/>
                <a:ea typeface="Times New Roman"/>
                <a:cs typeface="Times New Roman"/>
              </a:rPr>
              <a:t>Trạng thái đơn hàng là điểm nối giữa trải nghiệm mua sắm và vận hành cửa hàng.</a:t>
            </a:r>
          </a:p>
        </p:txBody>
      </p:sp>
    </p:spTree>
    <p:extLst>
      <p:ext uri="{BB962C8B-B14F-4D97-AF65-F5344CB8AC3E}">
        <p14:creationId xmlns:p14="http://schemas.microsoft.com/office/powerpoint/2010/main" val="168928429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text-88">
            <a:extLst xmlns:a="http://schemas.openxmlformats.org/drawingml/2006/main">
              <a:ext uri="{FF2B5EF4-FFF2-40B4-BE49-F238E27FC236}">
                <a16:creationId xmlns:a16="http://schemas.microsoft.com/office/drawing/2014/main" id="{E31BAB23-403A-4644-864D-39EE5E042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3D8DFF"/>
                </a:solidFill>
                <a:latin typeface="Times New Roman"/>
                <a:ea typeface="Times New Roman"/>
                <a:cs typeface="Times New Roman"/>
              </a:rPr>
              <a:t>BẢO VỆ KHÓA LUẬN</a:t>
            </a:r>
          </a:p>
        </p:txBody>
      </p:sp>
      <p:sp>
        <p:nvSpPr>
          <p:cNvPr id="2" name="text-89">
            <a:extLst xmlns:a="http://schemas.openxmlformats.org/drawingml/2006/main">
              <a:ext uri="{FF2B5EF4-FFF2-40B4-BE49-F238E27FC236}">
                <a16:creationId xmlns:a16="http://schemas.microsoft.com/office/drawing/2014/main" id="{466FC8AD-E006-4B82-B171-123CE3FD3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0810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101828"/>
                </a:solidFill>
                <a:latin typeface="Times New Roman"/>
                <a:ea typeface="Times New Roman"/>
                <a:cs typeface="Times New Roman"/>
              </a:rPr>
              <a:t>Hành trình khách hàng: từ khám phá đến hậu mãi</a:t>
            </a:r>
          </a:p>
        </p:txBody>
      </p:sp>
      <p:sp>
        <p:nvSpPr>
          <p:cNvPr id="3" name="line-90">
            <a:extLst xmlns:a="http://schemas.openxmlformats.org/drawingml/2006/main">
              <a:ext uri="{FF2B5EF4-FFF2-40B4-BE49-F238E27FC236}">
                <a16:creationId xmlns:a16="http://schemas.microsoft.com/office/drawing/2014/main" id="{C77248DD-FE50-4F24-B780-09C6F94CC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113919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text-91">
            <a:extLst xmlns:a="http://schemas.openxmlformats.org/drawingml/2006/main">
              <a:ext uri="{FF2B5EF4-FFF2-40B4-BE49-F238E27FC236}">
                <a16:creationId xmlns:a16="http://schemas.microsoft.com/office/drawing/2014/main" id="{59CA8160-2D09-4712-9F08-1621FED3E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722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5B6472"/>
                </a:solidFill>
                <a:latin typeface="Times New Roman"/>
                <a:ea typeface="Times New Roman"/>
                <a:cs typeface="Times New Roman"/>
              </a:rPr>
              <a:t>06</a:t>
            </a:r>
          </a:p>
        </p:txBody>
      </p:sp>
      <p:sp>
        <p:nvSpPr>
          <p:cNvPr id="5" name="arrow-92">
            <a:extLst xmlns:a="http://schemas.openxmlformats.org/drawingml/2006/main">
              <a:ext uri="{FF2B5EF4-FFF2-40B4-BE49-F238E27FC236}">
                <a16:creationId xmlns:a16="http://schemas.microsoft.com/office/drawing/2014/main" id="{E61A9091-D43F-4AFF-8CCF-A94257741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143250"/>
            <a:ext cx="5905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arrow-93">
            <a:extLst xmlns:a="http://schemas.openxmlformats.org/drawingml/2006/main">
              <a:ext uri="{FF2B5EF4-FFF2-40B4-BE49-F238E27FC236}">
                <a16:creationId xmlns:a16="http://schemas.microsoft.com/office/drawing/2014/main" id="{CDE807E8-3C0C-4A42-B15F-5F8DA651A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3143250"/>
            <a:ext cx="5905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arrow-94">
            <a:extLst xmlns:a="http://schemas.openxmlformats.org/drawingml/2006/main">
              <a:ext uri="{FF2B5EF4-FFF2-40B4-BE49-F238E27FC236}">
                <a16:creationId xmlns:a16="http://schemas.microsoft.com/office/drawing/2014/main" id="{B53E8CE0-E7B1-484D-A87A-D0074A6B7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143250"/>
            <a:ext cx="5905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arrow-95">
            <a:extLst xmlns:a="http://schemas.openxmlformats.org/drawingml/2006/main">
              <a:ext uri="{FF2B5EF4-FFF2-40B4-BE49-F238E27FC236}">
                <a16:creationId xmlns:a16="http://schemas.microsoft.com/office/drawing/2014/main" id="{41DF3FFD-F63C-421F-AECB-99472F178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3143250"/>
            <a:ext cx="5905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box-96">
            <a:extLst xmlns:a="http://schemas.openxmlformats.org/drawingml/2006/main">
              <a:ext uri="{FF2B5EF4-FFF2-40B4-BE49-F238E27FC236}">
                <a16:creationId xmlns:a16="http://schemas.microsoft.com/office/drawing/2014/main" id="{968120D5-0F53-4418-864C-E07558799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33625"/>
            <a:ext cx="1790700" cy="234315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-97">
            <a:extLst xmlns:a="http://schemas.openxmlformats.org/drawingml/2006/main">
              <a:ext uri="{FF2B5EF4-FFF2-40B4-BE49-F238E27FC236}">
                <a16:creationId xmlns:a16="http://schemas.microsoft.com/office/drawing/2014/main" id="{9A9E78A9-325C-470C-82D3-A968F7F68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3D8DFF"/>
                </a:solidFill>
                <a:latin typeface="Times New Roman"/>
                <a:ea typeface="Times New Roman"/>
                <a:cs typeface="Times New Roman"/>
              </a:rPr>
              <a:t>01</a:t>
            </a:r>
          </a:p>
        </p:txBody>
      </p:sp>
      <p:sp>
        <p:nvSpPr>
          <p:cNvPr id="11" name="text-98">
            <a:extLst xmlns:a="http://schemas.openxmlformats.org/drawingml/2006/main">
              <a:ext uri="{FF2B5EF4-FFF2-40B4-BE49-F238E27FC236}">
                <a16:creationId xmlns:a16="http://schemas.microsoft.com/office/drawing/2014/main" id="{40505D57-8CEE-4F97-B678-863ECA5C3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57525"/>
            <a:ext cx="1371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01828"/>
                </a:solidFill>
                <a:latin typeface="Times New Roman"/>
                <a:ea typeface="Times New Roman"/>
                <a:cs typeface="Times New Roman"/>
              </a:rPr>
              <a:t>Tìm kiếm</a:t>
            </a:r>
          </a:p>
        </p:txBody>
      </p:sp>
      <p:sp>
        <p:nvSpPr>
          <p:cNvPr id="12" name="text-99">
            <a:extLst xmlns:a="http://schemas.openxmlformats.org/drawingml/2006/main">
              <a:ext uri="{FF2B5EF4-FFF2-40B4-BE49-F238E27FC236}">
                <a16:creationId xmlns:a16="http://schemas.microsoft.com/office/drawing/2014/main" id="{586C8559-BF90-4C1F-A527-F0B52644D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38550"/>
            <a:ext cx="1371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B6472"/>
                </a:solidFill>
                <a:latin typeface="Times New Roman"/>
                <a:ea typeface="Times New Roman"/>
                <a:cs typeface="Times New Roman"/>
              </a:rPr>
              <a:t>Autocomplete, lọc theo danh mục, màu, kích thước, giá</a:t>
            </a:r>
          </a:p>
        </p:txBody>
      </p:sp>
      <p:sp>
        <p:nvSpPr>
          <p:cNvPr id="13" name="box-100">
            <a:extLst xmlns:a="http://schemas.openxmlformats.org/drawingml/2006/main">
              <a:ext uri="{FF2B5EF4-FFF2-40B4-BE49-F238E27FC236}">
                <a16:creationId xmlns:a16="http://schemas.microsoft.com/office/drawing/2014/main" id="{173D66A6-423B-4B9A-9310-6302562C9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2333625"/>
            <a:ext cx="1790700" cy="234315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-101">
            <a:extLst xmlns:a="http://schemas.openxmlformats.org/drawingml/2006/main">
              <a:ext uri="{FF2B5EF4-FFF2-40B4-BE49-F238E27FC236}">
                <a16:creationId xmlns:a16="http://schemas.microsoft.com/office/drawing/2014/main" id="{245919BD-8110-4F70-9394-E8F2C6112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257175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3D8DFF"/>
                </a:solidFill>
                <a:latin typeface="Times New Roman"/>
                <a:ea typeface="Times New Roman"/>
                <a:cs typeface="Times New Roman"/>
              </a:rPr>
              <a:t>02</a:t>
            </a:r>
          </a:p>
        </p:txBody>
      </p:sp>
      <p:sp>
        <p:nvSpPr>
          <p:cNvPr id="15" name="text-102">
            <a:extLst xmlns:a="http://schemas.openxmlformats.org/drawingml/2006/main">
              <a:ext uri="{FF2B5EF4-FFF2-40B4-BE49-F238E27FC236}">
                <a16:creationId xmlns:a16="http://schemas.microsoft.com/office/drawing/2014/main" id="{6535FB66-AB25-4E17-9FB3-2F9231248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3057525"/>
            <a:ext cx="1371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01828"/>
                </a:solidFill>
                <a:latin typeface="Times New Roman"/>
                <a:ea typeface="Times New Roman"/>
                <a:cs typeface="Times New Roman"/>
              </a:rPr>
              <a:t>Đánh giá</a:t>
            </a:r>
          </a:p>
        </p:txBody>
      </p:sp>
      <p:sp>
        <p:nvSpPr>
          <p:cNvPr id="16" name="text-103">
            <a:extLst xmlns:a="http://schemas.openxmlformats.org/drawingml/2006/main">
              <a:ext uri="{FF2B5EF4-FFF2-40B4-BE49-F238E27FC236}">
                <a16:creationId xmlns:a16="http://schemas.microsoft.com/office/drawing/2014/main" id="{4CC58AD9-62F6-4203-BC84-47BF53B92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3638550"/>
            <a:ext cx="1371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B6472"/>
                </a:solidFill>
                <a:latin typeface="Times New Roman"/>
                <a:ea typeface="Times New Roman"/>
                <a:cs typeface="Times New Roman"/>
              </a:rPr>
              <a:t>Biến thể, tồn kho, đánh giá và sản phẩm gợi ý</a:t>
            </a:r>
          </a:p>
        </p:txBody>
      </p:sp>
      <p:sp>
        <p:nvSpPr>
          <p:cNvPr id="17" name="box-104">
            <a:extLst xmlns:a="http://schemas.openxmlformats.org/drawingml/2006/main">
              <a:ext uri="{FF2B5EF4-FFF2-40B4-BE49-F238E27FC236}">
                <a16:creationId xmlns:a16="http://schemas.microsoft.com/office/drawing/2014/main" id="{7FC5A1C1-3AA5-4482-B8B9-819E384E7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333625"/>
            <a:ext cx="1790700" cy="234315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-105">
            <a:extLst xmlns:a="http://schemas.openxmlformats.org/drawingml/2006/main">
              <a:ext uri="{FF2B5EF4-FFF2-40B4-BE49-F238E27FC236}">
                <a16:creationId xmlns:a16="http://schemas.microsoft.com/office/drawing/2014/main" id="{52AF0DF0-4C63-43BA-ABB6-2E16C14D0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57175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3D8DFF"/>
                </a:solidFill>
                <a:latin typeface="Times New Roman"/>
                <a:ea typeface="Times New Roman"/>
                <a:cs typeface="Times New Roman"/>
              </a:rPr>
              <a:t>03</a:t>
            </a:r>
          </a:p>
        </p:txBody>
      </p:sp>
      <p:sp>
        <p:nvSpPr>
          <p:cNvPr id="19" name="text-106">
            <a:extLst xmlns:a="http://schemas.openxmlformats.org/drawingml/2006/main">
              <a:ext uri="{FF2B5EF4-FFF2-40B4-BE49-F238E27FC236}">
                <a16:creationId xmlns:a16="http://schemas.microsoft.com/office/drawing/2014/main" id="{9F1CC21A-0B4B-4D2F-8703-0A7DD89D8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057525"/>
            <a:ext cx="1371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01828"/>
                </a:solidFill>
                <a:latin typeface="Times New Roman"/>
                <a:ea typeface="Times New Roman"/>
                <a:cs typeface="Times New Roman"/>
              </a:rPr>
              <a:t>Quyết định</a:t>
            </a:r>
          </a:p>
        </p:txBody>
      </p:sp>
      <p:sp>
        <p:nvSpPr>
          <p:cNvPr id="20" name="text-107">
            <a:extLst xmlns:a="http://schemas.openxmlformats.org/drawingml/2006/main">
              <a:ext uri="{FF2B5EF4-FFF2-40B4-BE49-F238E27FC236}">
                <a16:creationId xmlns:a16="http://schemas.microsoft.com/office/drawing/2014/main" id="{95650093-3FD8-4755-B717-E14CCE200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638550"/>
            <a:ext cx="1371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B6472"/>
                </a:solidFill>
                <a:latin typeface="Times New Roman"/>
                <a:ea typeface="Times New Roman"/>
                <a:cs typeface="Times New Roman"/>
              </a:rPr>
              <a:t>Phối cảnh phòng, trợ lý AI, giỏ hàng và voucher</a:t>
            </a:r>
          </a:p>
        </p:txBody>
      </p:sp>
      <p:sp>
        <p:nvSpPr>
          <p:cNvPr id="21" name="box-108">
            <a:extLst xmlns:a="http://schemas.openxmlformats.org/drawingml/2006/main">
              <a:ext uri="{FF2B5EF4-FFF2-40B4-BE49-F238E27FC236}">
                <a16:creationId xmlns:a16="http://schemas.microsoft.com/office/drawing/2014/main" id="{557B3A60-26B0-4D59-A0D4-281AEDFA8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2333625"/>
            <a:ext cx="1790700" cy="234315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ext-109">
            <a:extLst xmlns:a="http://schemas.openxmlformats.org/drawingml/2006/main">
              <a:ext uri="{FF2B5EF4-FFF2-40B4-BE49-F238E27FC236}">
                <a16:creationId xmlns:a16="http://schemas.microsoft.com/office/drawing/2014/main" id="{9C2E26BD-FD03-4441-B12C-A74E6C56E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257175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3D8DFF"/>
                </a:solidFill>
                <a:latin typeface="Times New Roman"/>
                <a:ea typeface="Times New Roman"/>
                <a:cs typeface="Times New Roman"/>
              </a:rPr>
              <a:t>04</a:t>
            </a:r>
          </a:p>
        </p:txBody>
      </p:sp>
      <p:sp>
        <p:nvSpPr>
          <p:cNvPr id="23" name="text-110">
            <a:extLst xmlns:a="http://schemas.openxmlformats.org/drawingml/2006/main">
              <a:ext uri="{FF2B5EF4-FFF2-40B4-BE49-F238E27FC236}">
                <a16:creationId xmlns:a16="http://schemas.microsoft.com/office/drawing/2014/main" id="{44FF988E-8FB5-4480-9896-3F85AAFB3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3057525"/>
            <a:ext cx="1371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01828"/>
                </a:solidFill>
                <a:latin typeface="Times New Roman"/>
                <a:ea typeface="Times New Roman"/>
                <a:cs typeface="Times New Roman"/>
              </a:rPr>
              <a:t>Thanh toán</a:t>
            </a:r>
          </a:p>
        </p:txBody>
      </p:sp>
      <p:sp>
        <p:nvSpPr>
          <p:cNvPr id="24" name="text-111">
            <a:extLst xmlns:a="http://schemas.openxmlformats.org/drawingml/2006/main">
              <a:ext uri="{FF2B5EF4-FFF2-40B4-BE49-F238E27FC236}">
                <a16:creationId xmlns:a16="http://schemas.microsoft.com/office/drawing/2014/main" id="{7964FEDB-151E-4821-96EA-6A70B8F82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3638550"/>
            <a:ext cx="1371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B6472"/>
                </a:solidFill>
                <a:latin typeface="Times New Roman"/>
                <a:ea typeface="Times New Roman"/>
                <a:cs typeface="Times New Roman"/>
              </a:rPr>
              <a:t>Mapbox chuẩn hóa địa chỉ, VNPay hoặc COD</a:t>
            </a:r>
          </a:p>
        </p:txBody>
      </p:sp>
      <p:sp>
        <p:nvSpPr>
          <p:cNvPr id="25" name="box-112">
            <a:extLst xmlns:a="http://schemas.openxmlformats.org/drawingml/2006/main">
              <a:ext uri="{FF2B5EF4-FFF2-40B4-BE49-F238E27FC236}">
                <a16:creationId xmlns:a16="http://schemas.microsoft.com/office/drawing/2014/main" id="{C350947B-22EE-42DA-A295-7954F632A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333625"/>
            <a:ext cx="1790700" cy="234315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text-113">
            <a:extLst xmlns:a="http://schemas.openxmlformats.org/drawingml/2006/main">
              <a:ext uri="{FF2B5EF4-FFF2-40B4-BE49-F238E27FC236}">
                <a16:creationId xmlns:a16="http://schemas.microsoft.com/office/drawing/2014/main" id="{B732B2E8-814E-481C-90CF-CE39974A5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57175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3D8DFF"/>
                </a:solidFill>
                <a:latin typeface="Times New Roman"/>
                <a:ea typeface="Times New Roman"/>
                <a:cs typeface="Times New Roman"/>
              </a:rPr>
              <a:t>05</a:t>
            </a:r>
          </a:p>
        </p:txBody>
      </p:sp>
      <p:sp>
        <p:nvSpPr>
          <p:cNvPr id="27" name="text-114">
            <a:extLst xmlns:a="http://schemas.openxmlformats.org/drawingml/2006/main">
              <a:ext uri="{FF2B5EF4-FFF2-40B4-BE49-F238E27FC236}">
                <a16:creationId xmlns:a16="http://schemas.microsoft.com/office/drawing/2014/main" id="{EA0A3640-642C-4066-8FAD-1EE5C1EFD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057525"/>
            <a:ext cx="1371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01828"/>
                </a:solidFill>
                <a:latin typeface="Times New Roman"/>
                <a:ea typeface="Times New Roman"/>
                <a:cs typeface="Times New Roman"/>
              </a:rPr>
              <a:t>Theo dõi</a:t>
            </a:r>
          </a:p>
        </p:txBody>
      </p:sp>
      <p:sp>
        <p:nvSpPr>
          <p:cNvPr id="28" name="text-115">
            <a:extLst xmlns:a="http://schemas.openxmlformats.org/drawingml/2006/main">
              <a:ext uri="{FF2B5EF4-FFF2-40B4-BE49-F238E27FC236}">
                <a16:creationId xmlns:a16="http://schemas.microsoft.com/office/drawing/2014/main" id="{E80ABED1-0CED-43BE-9E3B-EC6E42624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638550"/>
            <a:ext cx="1371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B6472"/>
                </a:solidFill>
                <a:latin typeface="Times New Roman"/>
                <a:ea typeface="Times New Roman"/>
                <a:cs typeface="Times New Roman"/>
              </a:rPr>
              <a:t>Trạng thái đơn, đánh giá và hỗ trợ sau mua</a:t>
            </a:r>
          </a:p>
        </p:txBody>
      </p:sp>
      <p:sp>
        <p:nvSpPr>
          <p:cNvPr id="29" name="text-116">
            <a:extLst xmlns:a="http://schemas.openxmlformats.org/drawingml/2006/main">
              <a:ext uri="{FF2B5EF4-FFF2-40B4-BE49-F238E27FC236}">
                <a16:creationId xmlns:a16="http://schemas.microsoft.com/office/drawing/2014/main" id="{B1C6482B-3D16-422B-8CDA-1D5568EF0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334000"/>
            <a:ext cx="895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01828"/>
                </a:solidFill>
                <a:latin typeface="Times New Roman"/>
                <a:ea typeface="Times New Roman"/>
                <a:cs typeface="Times New Roman"/>
              </a:rPr>
              <a:t>Mỗi bước đều được ánh xạ thành API và trạng thái dữ liệu có thể tiếp tục ở bước kế tiếp.</a:t>
            </a:r>
          </a:p>
        </p:txBody>
      </p:sp>
    </p:spTree>
    <p:extLst>
      <p:ext uri="{BB962C8B-B14F-4D97-AF65-F5344CB8AC3E}">
        <p14:creationId xmlns:p14="http://schemas.microsoft.com/office/powerpoint/2010/main" val="50487279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text-117">
            <a:extLst xmlns:a="http://schemas.openxmlformats.org/drawingml/2006/main">
              <a:ext uri="{FF2B5EF4-FFF2-40B4-BE49-F238E27FC236}">
                <a16:creationId xmlns:a16="http://schemas.microsoft.com/office/drawing/2014/main" id="{1BC2DCA6-10D2-4815-B400-55CE701AE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3D8DFF"/>
                </a:solidFill>
                <a:latin typeface="Times New Roman"/>
                <a:ea typeface="Times New Roman"/>
                <a:cs typeface="Times New Roman"/>
              </a:rPr>
              <a:t>BẢO VỆ KHÓA LUẬN</a:t>
            </a:r>
          </a:p>
        </p:txBody>
      </p:sp>
      <p:sp>
        <p:nvSpPr>
          <p:cNvPr id="2" name="text-118">
            <a:extLst xmlns:a="http://schemas.openxmlformats.org/drawingml/2006/main">
              <a:ext uri="{FF2B5EF4-FFF2-40B4-BE49-F238E27FC236}">
                <a16:creationId xmlns:a16="http://schemas.microsoft.com/office/drawing/2014/main" id="{538DBFBB-DDF8-4B3A-AABE-B161A627B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0810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101828"/>
                </a:solidFill>
                <a:latin typeface="Times New Roman"/>
                <a:ea typeface="Times New Roman"/>
                <a:cs typeface="Times New Roman"/>
              </a:rPr>
              <a:t>Kiến trúc tách tương tác, nghiệp vụ, AI và dữ liệu</a:t>
            </a:r>
          </a:p>
        </p:txBody>
      </p:sp>
      <p:sp>
        <p:nvSpPr>
          <p:cNvPr id="3" name="line-119">
            <a:extLst xmlns:a="http://schemas.openxmlformats.org/drawingml/2006/main">
              <a:ext uri="{FF2B5EF4-FFF2-40B4-BE49-F238E27FC236}">
                <a16:creationId xmlns:a16="http://schemas.microsoft.com/office/drawing/2014/main" id="{0663BB6B-46BC-4059-BC30-2885C7819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113919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text-120">
            <a:extLst xmlns:a="http://schemas.openxmlformats.org/drawingml/2006/main">
              <a:ext uri="{FF2B5EF4-FFF2-40B4-BE49-F238E27FC236}">
                <a16:creationId xmlns:a16="http://schemas.microsoft.com/office/drawing/2014/main" id="{31A2E023-8B83-46AC-833D-89278CDAE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722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5B6472"/>
                </a:solidFill>
                <a:latin typeface="Times New Roman"/>
                <a:ea typeface="Times New Roman"/>
                <a:cs typeface="Times New Roman"/>
              </a:rPr>
              <a:t>07</a:t>
            </a:r>
          </a:p>
        </p:txBody>
      </p:sp>
      <p:sp>
        <p:nvSpPr>
          <p:cNvPr id="5" name="arrow-121">
            <a:extLst xmlns:a="http://schemas.openxmlformats.org/drawingml/2006/main">
              <a:ext uri="{FF2B5EF4-FFF2-40B4-BE49-F238E27FC236}">
                <a16:creationId xmlns:a16="http://schemas.microsoft.com/office/drawing/2014/main" id="{C982DC04-D880-46D8-8B58-5FA4F6A79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943225"/>
            <a:ext cx="6858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arrow-122">
            <a:extLst xmlns:a="http://schemas.openxmlformats.org/drawingml/2006/main">
              <a:ext uri="{FF2B5EF4-FFF2-40B4-BE49-F238E27FC236}">
                <a16:creationId xmlns:a16="http://schemas.microsoft.com/office/drawing/2014/main" id="{7F6927E2-E56F-4179-AFD0-2B7706A50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943225"/>
            <a:ext cx="6858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arrow-123">
            <a:extLst xmlns:a="http://schemas.openxmlformats.org/drawingml/2006/main">
              <a:ext uri="{FF2B5EF4-FFF2-40B4-BE49-F238E27FC236}">
                <a16:creationId xmlns:a16="http://schemas.microsoft.com/office/drawing/2014/main" id="{4C97AB68-680C-45C5-BE1F-7DDB7BBE7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943225"/>
            <a:ext cx="6858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box-124">
            <a:extLst xmlns:a="http://schemas.openxmlformats.org/drawingml/2006/main">
              <a:ext uri="{FF2B5EF4-FFF2-40B4-BE49-F238E27FC236}">
                <a16:creationId xmlns:a16="http://schemas.microsoft.com/office/drawing/2014/main" id="{04A33538-35E1-4662-923E-1106B258B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4343400"/>
            <a:ext cx="571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box-125">
            <a:extLst xmlns:a="http://schemas.openxmlformats.org/drawingml/2006/main">
              <a:ext uri="{FF2B5EF4-FFF2-40B4-BE49-F238E27FC236}">
                <a16:creationId xmlns:a16="http://schemas.microsoft.com/office/drawing/2014/main" id="{F5753886-1241-4D5F-B421-C96027792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28850"/>
            <a:ext cx="276225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-126">
            <a:extLst xmlns:a="http://schemas.openxmlformats.org/drawingml/2006/main">
              <a:ext uri="{FF2B5EF4-FFF2-40B4-BE49-F238E27FC236}">
                <a16:creationId xmlns:a16="http://schemas.microsoft.com/office/drawing/2014/main" id="{C1FE94CF-3FB9-46E5-9949-C4632A3C5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57450"/>
            <a:ext cx="2305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01828"/>
                </a:solidFill>
                <a:latin typeface="Times New Roman"/>
                <a:ea typeface="Times New Roman"/>
                <a:cs typeface="Times New Roman"/>
              </a:rPr>
              <a:t>FLUTTER CLIENT</a:t>
            </a:r>
          </a:p>
        </p:txBody>
      </p:sp>
      <p:sp>
        <p:nvSpPr>
          <p:cNvPr id="11" name="text-127">
            <a:extLst xmlns:a="http://schemas.openxmlformats.org/drawingml/2006/main">
              <a:ext uri="{FF2B5EF4-FFF2-40B4-BE49-F238E27FC236}">
                <a16:creationId xmlns:a16="http://schemas.microsoft.com/office/drawing/2014/main" id="{1352F624-93D7-4061-A97A-1CC283542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28950"/>
            <a:ext cx="23050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B6472"/>
                </a:solidFill>
                <a:latin typeface="Times New Roman"/>
                <a:ea typeface="Times New Roman"/>
                <a:cs typeface="Times New Roman"/>
              </a:rPr>
              <a:t>Giao diện responsive</a:t>
            </a:r>
          </a:p>
          <a:p xmlns:a="http://schemas.openxmlformats.org/drawingml/2006/main">
            <a:pPr algn="l">
              <a:buNone/>
              <a:defRPr sz="1350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B6472"/>
                </a:solidFill>
                <a:latin typeface="Times New Roman"/>
                <a:ea typeface="Times New Roman"/>
                <a:cs typeface="Times New Roman"/>
              </a:rPr>
              <a:t>Quản lý trạng thái</a:t>
            </a:r>
          </a:p>
          <a:p xmlns:a="http://schemas.openxmlformats.org/drawingml/2006/main">
            <a:pPr algn="l">
              <a:buNone/>
              <a:defRPr sz="1350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B6472"/>
                </a:solidFill>
                <a:latin typeface="Times New Roman"/>
                <a:ea typeface="Times New Roman"/>
                <a:cs typeface="Times New Roman"/>
              </a:rPr>
              <a:t>HTTP + SignalR</a:t>
            </a:r>
          </a:p>
        </p:txBody>
      </p:sp>
      <p:sp>
        <p:nvSpPr>
          <p:cNvPr id="12" name="box-128">
            <a:extLst xmlns:a="http://schemas.openxmlformats.org/drawingml/2006/main">
              <a:ext uri="{FF2B5EF4-FFF2-40B4-BE49-F238E27FC236}">
                <a16:creationId xmlns:a16="http://schemas.microsoft.com/office/drawing/2014/main" id="{33BCE7DF-AE7E-4456-B811-3402AD06E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228850"/>
            <a:ext cx="238125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-129">
            <a:extLst xmlns:a="http://schemas.openxmlformats.org/drawingml/2006/main">
              <a:ext uri="{FF2B5EF4-FFF2-40B4-BE49-F238E27FC236}">
                <a16:creationId xmlns:a16="http://schemas.microsoft.com/office/drawing/2014/main" id="{24C38584-DAAC-4882-A56D-A324C6FEB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457450"/>
            <a:ext cx="1924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3D8DFF"/>
                </a:solidFill>
                <a:latin typeface="Times New Roman"/>
                <a:ea typeface="Times New Roman"/>
                <a:cs typeface="Times New Roman"/>
              </a:rPr>
              <a:t>ASP.NET CORE</a:t>
            </a:r>
          </a:p>
        </p:txBody>
      </p:sp>
      <p:sp>
        <p:nvSpPr>
          <p:cNvPr id="14" name="text-130">
            <a:extLst xmlns:a="http://schemas.openxmlformats.org/drawingml/2006/main">
              <a:ext uri="{FF2B5EF4-FFF2-40B4-BE49-F238E27FC236}">
                <a16:creationId xmlns:a16="http://schemas.microsoft.com/office/drawing/2014/main" id="{59311649-9B57-4461-A3BD-4F0B27DDE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028950"/>
            <a:ext cx="19240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B6472"/>
                </a:solidFill>
                <a:latin typeface="Times New Roman"/>
                <a:ea typeface="Times New Roman"/>
                <a:cs typeface="Times New Roman"/>
              </a:rPr>
              <a:t>116 endpoint</a:t>
            </a:r>
          </a:p>
          <a:p xmlns:a="http://schemas.openxmlformats.org/drawingml/2006/main">
            <a:pPr algn="l">
              <a:buNone/>
              <a:defRPr sz="1350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B6472"/>
                </a:solidFill>
                <a:latin typeface="Times New Roman"/>
                <a:ea typeface="Times New Roman"/>
                <a:cs typeface="Times New Roman"/>
              </a:rPr>
              <a:t>JWT + phân quyền</a:t>
            </a:r>
          </a:p>
          <a:p xmlns:a="http://schemas.openxmlformats.org/drawingml/2006/main">
            <a:pPr algn="l">
              <a:buNone/>
              <a:defRPr sz="1350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B6472"/>
                </a:solidFill>
                <a:latin typeface="Times New Roman"/>
                <a:ea typeface="Times New Roman"/>
                <a:cs typeface="Times New Roman"/>
              </a:rPr>
              <a:t>Nghiệp vụ trung tâm</a:t>
            </a:r>
          </a:p>
        </p:txBody>
      </p:sp>
      <p:sp>
        <p:nvSpPr>
          <p:cNvPr id="15" name="box-131">
            <a:extLst xmlns:a="http://schemas.openxmlformats.org/drawingml/2006/main">
              <a:ext uri="{FF2B5EF4-FFF2-40B4-BE49-F238E27FC236}">
                <a16:creationId xmlns:a16="http://schemas.microsoft.com/office/drawing/2014/main" id="{2991F0CF-BDFF-44F4-8BA1-46A9EED54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2228850"/>
            <a:ext cx="2238375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xt-132">
            <a:extLst xmlns:a="http://schemas.openxmlformats.org/drawingml/2006/main">
              <a:ext uri="{FF2B5EF4-FFF2-40B4-BE49-F238E27FC236}">
                <a16:creationId xmlns:a16="http://schemas.microsoft.com/office/drawing/2014/main" id="{F276E145-E9F4-4D61-8E4F-747A1A5C5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2457450"/>
            <a:ext cx="17811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01828"/>
                </a:solidFill>
                <a:latin typeface="Times New Roman"/>
                <a:ea typeface="Times New Roman"/>
                <a:cs typeface="Times New Roman"/>
              </a:rPr>
              <a:t>ENTITY FRAMEWORK</a:t>
            </a:r>
          </a:p>
        </p:txBody>
      </p:sp>
      <p:sp>
        <p:nvSpPr>
          <p:cNvPr id="17" name="text-133">
            <a:extLst xmlns:a="http://schemas.openxmlformats.org/drawingml/2006/main">
              <a:ext uri="{FF2B5EF4-FFF2-40B4-BE49-F238E27FC236}">
                <a16:creationId xmlns:a16="http://schemas.microsoft.com/office/drawing/2014/main" id="{49BA5819-C28C-4101-89C4-F5FD69AD0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3028950"/>
            <a:ext cx="1781175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B6472"/>
                </a:solidFill>
                <a:latin typeface="Times New Roman"/>
                <a:ea typeface="Times New Roman"/>
                <a:cs typeface="Times New Roman"/>
              </a:rPr>
              <a:t>19 thực thể</a:t>
            </a:r>
          </a:p>
          <a:p xmlns:a="http://schemas.openxmlformats.org/drawingml/2006/main">
            <a:pPr algn="l">
              <a:buNone/>
              <a:defRPr sz="1350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B6472"/>
                </a:solidFill>
                <a:latin typeface="Times New Roman"/>
                <a:ea typeface="Times New Roman"/>
                <a:cs typeface="Times New Roman"/>
              </a:rPr>
              <a:t>Transaction</a:t>
            </a:r>
          </a:p>
          <a:p xmlns:a="http://schemas.openxmlformats.org/drawingml/2006/main">
            <a:pPr algn="l">
              <a:buNone/>
              <a:defRPr sz="1350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B6472"/>
                </a:solidFill>
                <a:latin typeface="Times New Roman"/>
                <a:ea typeface="Times New Roman"/>
                <a:cs typeface="Times New Roman"/>
              </a:rPr>
              <a:t>SQL Server</a:t>
            </a:r>
          </a:p>
        </p:txBody>
      </p:sp>
      <p:sp>
        <p:nvSpPr>
          <p:cNvPr id="18" name="box-134">
            <a:extLst xmlns:a="http://schemas.openxmlformats.org/drawingml/2006/main">
              <a:ext uri="{FF2B5EF4-FFF2-40B4-BE49-F238E27FC236}">
                <a16:creationId xmlns:a16="http://schemas.microsoft.com/office/drawing/2014/main" id="{F29E5F66-DBE3-44E8-BF9B-6A847B078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228850"/>
            <a:ext cx="1943100" cy="20955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ext-135">
            <a:extLst xmlns:a="http://schemas.openxmlformats.org/drawingml/2006/main">
              <a:ext uri="{FF2B5EF4-FFF2-40B4-BE49-F238E27FC236}">
                <a16:creationId xmlns:a16="http://schemas.microsoft.com/office/drawing/2014/main" id="{9471D17D-CD6F-45DC-A582-529907729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2457450"/>
            <a:ext cx="1485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01828"/>
                </a:solidFill>
                <a:latin typeface="Times New Roman"/>
                <a:ea typeface="Times New Roman"/>
                <a:cs typeface="Times New Roman"/>
              </a:rPr>
              <a:t>DỊCH VỤ NGOÀI</a:t>
            </a:r>
          </a:p>
        </p:txBody>
      </p:sp>
      <p:sp>
        <p:nvSpPr>
          <p:cNvPr id="20" name="text-136">
            <a:extLst xmlns:a="http://schemas.openxmlformats.org/drawingml/2006/main">
              <a:ext uri="{FF2B5EF4-FFF2-40B4-BE49-F238E27FC236}">
                <a16:creationId xmlns:a16="http://schemas.microsoft.com/office/drawing/2014/main" id="{87F4B4D8-043E-4F1D-A58D-2D902B210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3028950"/>
            <a:ext cx="14859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B6472"/>
                </a:solidFill>
                <a:latin typeface="Times New Roman"/>
                <a:ea typeface="Times New Roman"/>
                <a:cs typeface="Times New Roman"/>
              </a:rPr>
              <a:t>VNPay • Mapbox</a:t>
            </a:r>
          </a:p>
          <a:p xmlns:a="http://schemas.openxmlformats.org/drawingml/2006/main">
            <a:pPr algn="l">
              <a:buNone/>
              <a:defRPr sz="1350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B6472"/>
                </a:solidFill>
                <a:latin typeface="Times New Roman"/>
                <a:ea typeface="Times New Roman"/>
                <a:cs typeface="Times New Roman"/>
              </a:rPr>
              <a:t>Gmail SMTP</a:t>
            </a:r>
          </a:p>
          <a:p xmlns:a="http://schemas.openxmlformats.org/drawingml/2006/main">
            <a:pPr algn="l">
              <a:buNone/>
              <a:defRPr sz="1350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B6472"/>
                </a:solidFill>
                <a:latin typeface="Times New Roman"/>
                <a:ea typeface="Times New Roman"/>
                <a:cs typeface="Times New Roman"/>
              </a:rPr>
              <a:t>OpenAI • Gemini</a:t>
            </a:r>
          </a:p>
        </p:txBody>
      </p:sp>
      <p:sp>
        <p:nvSpPr>
          <p:cNvPr id="21" name="box-137">
            <a:extLst xmlns:a="http://schemas.openxmlformats.org/drawingml/2006/main">
              <a:ext uri="{FF2B5EF4-FFF2-40B4-BE49-F238E27FC236}">
                <a16:creationId xmlns:a16="http://schemas.microsoft.com/office/drawing/2014/main" id="{F5C9A18E-FB35-4D10-9BED-F5937E247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5162550"/>
            <a:ext cx="238125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ext-138">
            <a:extLst xmlns:a="http://schemas.openxmlformats.org/drawingml/2006/main">
              <a:ext uri="{FF2B5EF4-FFF2-40B4-BE49-F238E27FC236}">
                <a16:creationId xmlns:a16="http://schemas.microsoft.com/office/drawing/2014/main" id="{91705F9E-75B5-4901-885C-306E4BADC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5334000"/>
            <a:ext cx="1924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3D8DFF"/>
                </a:solidFill>
                <a:latin typeface="Times New Roman"/>
                <a:ea typeface="Times New Roman"/>
                <a:cs typeface="Times New Roman"/>
              </a:rPr>
              <a:t>FASTAPI AI</a:t>
            </a:r>
          </a:p>
        </p:txBody>
      </p:sp>
      <p:sp>
        <p:nvSpPr>
          <p:cNvPr id="23" name="text-139">
            <a:extLst xmlns:a="http://schemas.openxmlformats.org/drawingml/2006/main">
              <a:ext uri="{FF2B5EF4-FFF2-40B4-BE49-F238E27FC236}">
                <a16:creationId xmlns:a16="http://schemas.microsoft.com/office/drawing/2014/main" id="{A52B11C0-FF5B-4C23-A1C5-78A11ABCB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5715000"/>
            <a:ext cx="1924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B6472"/>
                </a:solidFill>
                <a:latin typeface="Times New Roman"/>
                <a:ea typeface="Times New Roman"/>
                <a:cs typeface="Times New Roman"/>
              </a:rPr>
              <a:t>ONNX Runtime • xử lý ảnh</a:t>
            </a:r>
          </a:p>
        </p:txBody>
      </p:sp>
    </p:spTree>
    <p:extLst>
      <p:ext uri="{BB962C8B-B14F-4D97-AF65-F5344CB8AC3E}">
        <p14:creationId xmlns:p14="http://schemas.microsoft.com/office/powerpoint/2010/main" val="49124603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ext-140">
            <a:extLst xmlns:a="http://schemas.openxmlformats.org/drawingml/2006/main">
              <a:ext uri="{FF2B5EF4-FFF2-40B4-BE49-F238E27FC236}">
                <a16:creationId xmlns:a16="http://schemas.microsoft.com/office/drawing/2014/main" id="{C2EDE5B0-0BE3-47FD-A8C6-4E9F5F21F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3D8DFF"/>
                </a:solidFill>
                <a:latin typeface="Times New Roman"/>
                <a:ea typeface="Times New Roman"/>
                <a:cs typeface="Times New Roman"/>
              </a:rPr>
              <a:t>BẢO VỆ KHÓA LUẬN</a:t>
            </a:r>
          </a:p>
        </p:txBody>
      </p:sp>
      <p:sp>
        <p:nvSpPr>
          <p:cNvPr id="2" name="text-141">
            <a:extLst xmlns:a="http://schemas.openxmlformats.org/drawingml/2006/main">
              <a:ext uri="{FF2B5EF4-FFF2-40B4-BE49-F238E27FC236}">
                <a16:creationId xmlns:a16="http://schemas.microsoft.com/office/drawing/2014/main" id="{72AB27BD-13F1-4DEB-B45A-E68F0B263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0810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101828"/>
                </a:solidFill>
                <a:latin typeface="Times New Roman"/>
                <a:ea typeface="Times New Roman"/>
                <a:cs typeface="Times New Roman"/>
              </a:rPr>
              <a:t>Mỗi công nghệ đảm nhiệm đúng loại tải công việc</a:t>
            </a:r>
          </a:p>
        </p:txBody>
      </p:sp>
      <p:sp>
        <p:nvSpPr>
          <p:cNvPr id="3" name="line-142">
            <a:extLst xmlns:a="http://schemas.openxmlformats.org/drawingml/2006/main">
              <a:ext uri="{FF2B5EF4-FFF2-40B4-BE49-F238E27FC236}">
                <a16:creationId xmlns:a16="http://schemas.microsoft.com/office/drawing/2014/main" id="{674AEEDD-2F67-49C4-A8D7-D018780AB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113919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text-143">
            <a:extLst xmlns:a="http://schemas.openxmlformats.org/drawingml/2006/main">
              <a:ext uri="{FF2B5EF4-FFF2-40B4-BE49-F238E27FC236}">
                <a16:creationId xmlns:a16="http://schemas.microsoft.com/office/drawing/2014/main" id="{7E24CAA6-3A97-4DBE-9784-71085476C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722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5B6472"/>
                </a:solidFill>
                <a:latin typeface="Times New Roman"/>
                <a:ea typeface="Times New Roman"/>
                <a:cs typeface="Times New Roman"/>
              </a:rPr>
              <a:t>08</a:t>
            </a:r>
          </a:p>
        </p:txBody>
      </p:sp>
      <p:sp>
        <p:nvSpPr>
          <p:cNvPr id="5" name="line-144">
            <a:extLst xmlns:a="http://schemas.openxmlformats.org/drawingml/2006/main">
              <a:ext uri="{FF2B5EF4-FFF2-40B4-BE49-F238E27FC236}">
                <a16:creationId xmlns:a16="http://schemas.microsoft.com/office/drawing/2014/main" id="{6DDBCA6A-274F-47EA-84AC-A0DD3E5F7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71700"/>
            <a:ext cx="2476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3D8DFF"/>
            </a:solidFill>
            <a:prstDash val="solid"/>
          </a:ln>
        </p:spPr>
      </p:sp>
      <p:sp>
        <p:nvSpPr>
          <p:cNvPr id="6" name="text-145">
            <a:extLst xmlns:a="http://schemas.openxmlformats.org/drawingml/2006/main">
              <a:ext uri="{FF2B5EF4-FFF2-40B4-BE49-F238E27FC236}">
                <a16:creationId xmlns:a16="http://schemas.microsoft.com/office/drawing/2014/main" id="{C13D5B68-BE38-44F4-9B06-67A3F6AE2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9555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01828"/>
                </a:solidFill>
                <a:latin typeface="Times New Roman"/>
                <a:ea typeface="Times New Roman"/>
                <a:cs typeface="Times New Roman"/>
              </a:rPr>
              <a:t>Flutter</a:t>
            </a:r>
          </a:p>
        </p:txBody>
      </p:sp>
      <p:sp>
        <p:nvSpPr>
          <p:cNvPr id="7" name="text-146">
            <a:extLst xmlns:a="http://schemas.openxmlformats.org/drawingml/2006/main">
              <a:ext uri="{FF2B5EF4-FFF2-40B4-BE49-F238E27FC236}">
                <a16:creationId xmlns:a16="http://schemas.microsoft.com/office/drawing/2014/main" id="{2B038E63-65C6-4493-8EBF-15F9A7304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09925"/>
            <a:ext cx="24765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5B6472"/>
                </a:solidFill>
                <a:latin typeface="Times New Roman"/>
                <a:ea typeface="Times New Roman"/>
                <a:cs typeface="Times New Roman"/>
              </a:rPr>
              <a:t>Một codebase cho web và các nền tảng; giao diện responsive và giàu tương tác.</a:t>
            </a:r>
          </a:p>
        </p:txBody>
      </p:sp>
      <p:sp>
        <p:nvSpPr>
          <p:cNvPr id="8" name="line-147">
            <a:extLst xmlns:a="http://schemas.openxmlformats.org/drawingml/2006/main">
              <a:ext uri="{FF2B5EF4-FFF2-40B4-BE49-F238E27FC236}">
                <a16:creationId xmlns:a16="http://schemas.microsoft.com/office/drawing/2014/main" id="{21B4A4F1-C781-427B-AF0E-15B2A11A3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171700"/>
            <a:ext cx="2476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3D8DFF"/>
            </a:solidFill>
            <a:prstDash val="solid"/>
          </a:ln>
        </p:spPr>
      </p:sp>
      <p:sp>
        <p:nvSpPr>
          <p:cNvPr id="9" name="text-148">
            <a:extLst xmlns:a="http://schemas.openxmlformats.org/drawingml/2006/main">
              <a:ext uri="{FF2B5EF4-FFF2-40B4-BE49-F238E27FC236}">
                <a16:creationId xmlns:a16="http://schemas.microsoft.com/office/drawing/2014/main" id="{13292877-8D76-4819-B683-2A3486EA5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49555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01828"/>
                </a:solidFill>
                <a:latin typeface="Times New Roman"/>
                <a:ea typeface="Times New Roman"/>
                <a:cs typeface="Times New Roman"/>
              </a:rPr>
              <a:t>ASP.NET Core</a:t>
            </a:r>
          </a:p>
        </p:txBody>
      </p:sp>
      <p:sp>
        <p:nvSpPr>
          <p:cNvPr id="10" name="text-149">
            <a:extLst xmlns:a="http://schemas.openxmlformats.org/drawingml/2006/main">
              <a:ext uri="{FF2B5EF4-FFF2-40B4-BE49-F238E27FC236}">
                <a16:creationId xmlns:a16="http://schemas.microsoft.com/office/drawing/2014/main" id="{764937CB-617B-46C3-805D-787AB6EBD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209925"/>
            <a:ext cx="24765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5B6472"/>
                </a:solidFill>
                <a:latin typeface="Times New Roman"/>
                <a:ea typeface="Times New Roman"/>
                <a:cs typeface="Times New Roman"/>
              </a:rPr>
              <a:t>API phân quyền, transaction nghiệp vụ và tích hợp dịch vụ bên thứ ba.</a:t>
            </a:r>
          </a:p>
        </p:txBody>
      </p:sp>
      <p:sp>
        <p:nvSpPr>
          <p:cNvPr id="11" name="line-150">
            <a:extLst xmlns:a="http://schemas.openxmlformats.org/drawingml/2006/main">
              <a:ext uri="{FF2B5EF4-FFF2-40B4-BE49-F238E27FC236}">
                <a16:creationId xmlns:a16="http://schemas.microsoft.com/office/drawing/2014/main" id="{C587C289-68F5-4871-B447-9A18EE9EC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71700"/>
            <a:ext cx="2476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3D8DFF"/>
            </a:solidFill>
            <a:prstDash val="solid"/>
          </a:ln>
        </p:spPr>
      </p:sp>
      <p:sp>
        <p:nvSpPr>
          <p:cNvPr id="12" name="text-151">
            <a:extLst xmlns:a="http://schemas.openxmlformats.org/drawingml/2006/main">
              <a:ext uri="{FF2B5EF4-FFF2-40B4-BE49-F238E27FC236}">
                <a16:creationId xmlns:a16="http://schemas.microsoft.com/office/drawing/2014/main" id="{E321108A-5372-47AE-9A10-D03FB2843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49555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01828"/>
                </a:solidFill>
                <a:latin typeface="Times New Roman"/>
                <a:ea typeface="Times New Roman"/>
                <a:cs typeface="Times New Roman"/>
              </a:rPr>
              <a:t>SQL Server</a:t>
            </a:r>
          </a:p>
        </p:txBody>
      </p:sp>
      <p:sp>
        <p:nvSpPr>
          <p:cNvPr id="13" name="text-152">
            <a:extLst xmlns:a="http://schemas.openxmlformats.org/drawingml/2006/main">
              <a:ext uri="{FF2B5EF4-FFF2-40B4-BE49-F238E27FC236}">
                <a16:creationId xmlns:a16="http://schemas.microsoft.com/office/drawing/2014/main" id="{23ACE8C8-E8B5-4095-A1CA-10FD9FC34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09925"/>
            <a:ext cx="24765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5B6472"/>
                </a:solidFill>
                <a:latin typeface="Times New Roman"/>
                <a:ea typeface="Times New Roman"/>
                <a:cs typeface="Times New Roman"/>
              </a:rPr>
              <a:t>Quan hệ dữ liệu chặt chẽ cho sản phẩm, đơn hàng, thanh toán và giao nhận.</a:t>
            </a:r>
          </a:p>
        </p:txBody>
      </p:sp>
      <p:sp>
        <p:nvSpPr>
          <p:cNvPr id="14" name="line-153">
            <a:extLst xmlns:a="http://schemas.openxmlformats.org/drawingml/2006/main">
              <a:ext uri="{FF2B5EF4-FFF2-40B4-BE49-F238E27FC236}">
                <a16:creationId xmlns:a16="http://schemas.microsoft.com/office/drawing/2014/main" id="{86F4125B-64CB-45ED-A7B4-951AD4CE8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171700"/>
            <a:ext cx="2476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18A56A"/>
            </a:solidFill>
            <a:prstDash val="solid"/>
          </a:ln>
        </p:spPr>
      </p:sp>
      <p:sp>
        <p:nvSpPr>
          <p:cNvPr id="15" name="text-154">
            <a:extLst xmlns:a="http://schemas.openxmlformats.org/drawingml/2006/main">
              <a:ext uri="{FF2B5EF4-FFF2-40B4-BE49-F238E27FC236}">
                <a16:creationId xmlns:a16="http://schemas.microsoft.com/office/drawing/2014/main" id="{B18B3F26-DEF2-42CF-B6BD-9DFA09F82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49555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01828"/>
                </a:solidFill>
                <a:latin typeface="Times New Roman"/>
                <a:ea typeface="Times New Roman"/>
                <a:cs typeface="Times New Roman"/>
              </a:rPr>
              <a:t>FastAPI + ONNX</a:t>
            </a:r>
          </a:p>
        </p:txBody>
      </p:sp>
      <p:sp>
        <p:nvSpPr>
          <p:cNvPr id="16" name="text-155">
            <a:extLst xmlns:a="http://schemas.openxmlformats.org/drawingml/2006/main">
              <a:ext uri="{FF2B5EF4-FFF2-40B4-BE49-F238E27FC236}">
                <a16:creationId xmlns:a16="http://schemas.microsoft.com/office/drawing/2014/main" id="{153E9367-35C0-4F7F-917B-244CBD594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209925"/>
            <a:ext cx="24765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5B6472"/>
                </a:solidFill>
                <a:latin typeface="Times New Roman"/>
                <a:ea typeface="Times New Roman"/>
                <a:cs typeface="Times New Roman"/>
              </a:rPr>
              <a:t>Tách các tác vụ xóa nền, phân vùng và ước lượng chiều sâu có thời gian xử lý dài.</a:t>
            </a:r>
          </a:p>
        </p:txBody>
      </p:sp>
      <p:sp>
        <p:nvSpPr>
          <p:cNvPr id="17" name="box-156">
            <a:extLst xmlns:a="http://schemas.openxmlformats.org/drawingml/2006/main">
              <a:ext uri="{FF2B5EF4-FFF2-40B4-BE49-F238E27FC236}">
                <a16:creationId xmlns:a16="http://schemas.microsoft.com/office/drawing/2014/main" id="{F1E6B3C8-8ABA-4FAC-990F-51AB4F29C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67300"/>
            <a:ext cx="1139190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-157">
            <a:extLst xmlns:a="http://schemas.openxmlformats.org/drawingml/2006/main">
              <a:ext uri="{FF2B5EF4-FFF2-40B4-BE49-F238E27FC236}">
                <a16:creationId xmlns:a16="http://schemas.microsoft.com/office/drawing/2014/main" id="{FCC51DC9-C8CF-4C42-B2E2-C9EFB6C2F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05425"/>
            <a:ext cx="1082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01828"/>
                </a:solidFill>
                <a:latin typeface="Times New Roman"/>
                <a:ea typeface="Times New Roman"/>
                <a:cs typeface="Times New Roman"/>
              </a:rPr>
              <a:t>Nguyên tắc thiết kế: client hiển thị — backend quyết định nghiệp vụ — dịch vụ AI xử lý ảnh — SQL Server bảo toàn dữ liệu.</a:t>
            </a:r>
          </a:p>
        </p:txBody>
      </p:sp>
    </p:spTree>
    <p:extLst>
      <p:ext uri="{BB962C8B-B14F-4D97-AF65-F5344CB8AC3E}">
        <p14:creationId xmlns:p14="http://schemas.microsoft.com/office/powerpoint/2010/main" val="115132199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ext-158">
            <a:extLst xmlns:a="http://schemas.openxmlformats.org/drawingml/2006/main">
              <a:ext uri="{FF2B5EF4-FFF2-40B4-BE49-F238E27FC236}">
                <a16:creationId xmlns:a16="http://schemas.microsoft.com/office/drawing/2014/main" id="{CFAF2938-8BEA-4CED-B1F5-37A03E8DA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3D8DFF"/>
                </a:solidFill>
                <a:latin typeface="Times New Roman"/>
                <a:ea typeface="Times New Roman"/>
                <a:cs typeface="Times New Roman"/>
              </a:rPr>
              <a:t>BẢO VỆ KHÓA LUẬN</a:t>
            </a:r>
          </a:p>
        </p:txBody>
      </p:sp>
      <p:sp>
        <p:nvSpPr>
          <p:cNvPr id="2" name="text-159">
            <a:extLst xmlns:a="http://schemas.openxmlformats.org/drawingml/2006/main">
              <a:ext uri="{FF2B5EF4-FFF2-40B4-BE49-F238E27FC236}">
                <a16:creationId xmlns:a16="http://schemas.microsoft.com/office/drawing/2014/main" id="{619429C3-E0F0-4AF3-8BDB-A1E5182D3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0810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101828"/>
                </a:solidFill>
                <a:latin typeface="Times New Roman"/>
                <a:ea typeface="Times New Roman"/>
                <a:cs typeface="Times New Roman"/>
              </a:rPr>
              <a:t>Ba lớp trạng thái bảo toàn vòng đời đơn hàng</a:t>
            </a:r>
          </a:p>
        </p:txBody>
      </p:sp>
      <p:sp>
        <p:nvSpPr>
          <p:cNvPr id="3" name="line-160">
            <a:extLst xmlns:a="http://schemas.openxmlformats.org/drawingml/2006/main">
              <a:ext uri="{FF2B5EF4-FFF2-40B4-BE49-F238E27FC236}">
                <a16:creationId xmlns:a16="http://schemas.microsoft.com/office/drawing/2014/main" id="{E3ACA11E-E9A4-4403-A61F-2CEA3641E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113919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text-161">
            <a:extLst xmlns:a="http://schemas.openxmlformats.org/drawingml/2006/main">
              <a:ext uri="{FF2B5EF4-FFF2-40B4-BE49-F238E27FC236}">
                <a16:creationId xmlns:a16="http://schemas.microsoft.com/office/drawing/2014/main" id="{100B2196-082E-44FE-BD07-BECF2C718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722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5B6472"/>
                </a:solidFill>
                <a:latin typeface="Times New Roman"/>
                <a:ea typeface="Times New Roman"/>
                <a:cs typeface="Times New Roman"/>
              </a:rPr>
              <a:t>09</a:t>
            </a:r>
          </a:p>
        </p:txBody>
      </p:sp>
      <p:sp>
        <p:nvSpPr>
          <p:cNvPr id="5" name="line-162">
            <a:extLst xmlns:a="http://schemas.openxmlformats.org/drawingml/2006/main">
              <a:ext uri="{FF2B5EF4-FFF2-40B4-BE49-F238E27FC236}">
                <a16:creationId xmlns:a16="http://schemas.microsoft.com/office/drawing/2014/main" id="{468C542F-11EB-49A4-804A-711DE7119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52800"/>
            <a:ext cx="101917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01828"/>
            </a:solidFill>
            <a:prstDash val="solid"/>
          </a:ln>
        </p:spPr>
      </p:sp>
      <p:sp>
        <p:nvSpPr>
          <p:cNvPr id="6" name="text-163">
            <a:extLst xmlns:a="http://schemas.openxmlformats.org/drawingml/2006/main">
              <a:ext uri="{FF2B5EF4-FFF2-40B4-BE49-F238E27FC236}">
                <a16:creationId xmlns:a16="http://schemas.microsoft.com/office/drawing/2014/main" id="{EABE9736-FACC-43C7-816A-8D2677D5B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336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3D8DFF"/>
                </a:solidFill>
                <a:latin typeface="Times New Roman"/>
                <a:ea typeface="Times New Roman"/>
                <a:cs typeface="Times New Roman"/>
              </a:rPr>
              <a:t>01 — TẠO ĐƠN</a:t>
            </a:r>
          </a:p>
        </p:txBody>
      </p:sp>
      <p:sp>
        <p:nvSpPr>
          <p:cNvPr id="7" name="box-164">
            <a:extLst xmlns:a="http://schemas.openxmlformats.org/drawingml/2006/main">
              <a:ext uri="{FF2B5EF4-FFF2-40B4-BE49-F238E27FC236}">
                <a16:creationId xmlns:a16="http://schemas.microsoft.com/office/drawing/2014/main" id="{46F3C0CF-BF1C-4BED-9BB2-3DAB9B580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2289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-165">
            <a:extLst xmlns:a="http://schemas.openxmlformats.org/drawingml/2006/main">
              <a:ext uri="{FF2B5EF4-FFF2-40B4-BE49-F238E27FC236}">
                <a16:creationId xmlns:a16="http://schemas.microsoft.com/office/drawing/2014/main" id="{1A7613FA-F19F-40F9-858F-D7DA7C285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86200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101828"/>
                </a:solidFill>
                <a:latin typeface="Times New Roman"/>
                <a:ea typeface="Times New Roman"/>
                <a:cs typeface="Times New Roman"/>
              </a:rPr>
              <a:t>Kiểm tra tồn kho</a:t>
            </a:r>
          </a:p>
        </p:txBody>
      </p:sp>
      <p:sp>
        <p:nvSpPr>
          <p:cNvPr id="9" name="text-166">
            <a:extLst xmlns:a="http://schemas.openxmlformats.org/drawingml/2006/main">
              <a:ext uri="{FF2B5EF4-FFF2-40B4-BE49-F238E27FC236}">
                <a16:creationId xmlns:a16="http://schemas.microsoft.com/office/drawing/2014/main" id="{13B7EBBC-F00F-4EA2-A908-9E650619B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48175"/>
            <a:ext cx="3143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B6472"/>
                </a:solidFill>
                <a:latin typeface="Times New Roman"/>
                <a:ea typeface="Times New Roman"/>
                <a:cs typeface="Times New Roman"/>
              </a:rPr>
              <a:t>Áp dụng voucher, phí giao hàng; transaction hoàn tác khi có lỗi.</a:t>
            </a:r>
          </a:p>
        </p:txBody>
      </p:sp>
      <p:sp>
        <p:nvSpPr>
          <p:cNvPr id="10" name="text-167">
            <a:extLst xmlns:a="http://schemas.openxmlformats.org/drawingml/2006/main">
              <a:ext uri="{FF2B5EF4-FFF2-40B4-BE49-F238E27FC236}">
                <a16:creationId xmlns:a16="http://schemas.microsoft.com/office/drawing/2014/main" id="{BB2A1554-628D-4364-8D88-78ABEEA20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5336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3D8DFF"/>
                </a:solidFill>
                <a:latin typeface="Times New Roman"/>
                <a:ea typeface="Times New Roman"/>
                <a:cs typeface="Times New Roman"/>
              </a:rPr>
              <a:t>02 — THANH TOÁN</a:t>
            </a:r>
          </a:p>
        </p:txBody>
      </p:sp>
      <p:sp>
        <p:nvSpPr>
          <p:cNvPr id="11" name="box-168">
            <a:extLst xmlns:a="http://schemas.openxmlformats.org/drawingml/2006/main">
              <a:ext uri="{FF2B5EF4-FFF2-40B4-BE49-F238E27FC236}">
                <a16:creationId xmlns:a16="http://schemas.microsoft.com/office/drawing/2014/main" id="{611A6C81-64C7-446A-8B4F-55EF1EE21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2289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-169">
            <a:extLst xmlns:a="http://schemas.openxmlformats.org/drawingml/2006/main">
              <a:ext uri="{FF2B5EF4-FFF2-40B4-BE49-F238E27FC236}">
                <a16:creationId xmlns:a16="http://schemas.microsoft.com/office/drawing/2014/main" id="{4DA1733A-5934-4525-8055-4E5E4B88D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886200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101828"/>
                </a:solidFill>
                <a:latin typeface="Times New Roman"/>
                <a:ea typeface="Times New Roman"/>
                <a:cs typeface="Times New Roman"/>
              </a:rPr>
              <a:t>Xác minh kết quả</a:t>
            </a:r>
          </a:p>
        </p:txBody>
      </p:sp>
      <p:sp>
        <p:nvSpPr>
          <p:cNvPr id="13" name="text-170">
            <a:extLst xmlns:a="http://schemas.openxmlformats.org/drawingml/2006/main">
              <a:ext uri="{FF2B5EF4-FFF2-40B4-BE49-F238E27FC236}">
                <a16:creationId xmlns:a16="http://schemas.microsoft.com/office/drawing/2014/main" id="{037DD0CE-737F-4E21-ACF1-B8DFC4EC8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448175"/>
            <a:ext cx="3143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B6472"/>
                </a:solidFill>
                <a:latin typeface="Times New Roman"/>
                <a:ea typeface="Times New Roman"/>
                <a:cs typeface="Times New Roman"/>
              </a:rPr>
              <a:t>VNPay được kiểm tra chữ ký, mã giao dịch và trạng thái trước khi ghi nhận.</a:t>
            </a:r>
          </a:p>
        </p:txBody>
      </p:sp>
      <p:sp>
        <p:nvSpPr>
          <p:cNvPr id="14" name="text-171">
            <a:extLst xmlns:a="http://schemas.openxmlformats.org/drawingml/2006/main">
              <a:ext uri="{FF2B5EF4-FFF2-40B4-BE49-F238E27FC236}">
                <a16:creationId xmlns:a16="http://schemas.microsoft.com/office/drawing/2014/main" id="{37EAD5B5-8557-4287-8A15-3DD22AC50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5336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3D8DFF"/>
                </a:solidFill>
                <a:latin typeface="Times New Roman"/>
                <a:ea typeface="Times New Roman"/>
                <a:cs typeface="Times New Roman"/>
              </a:rPr>
              <a:t>03 — GIAO NHẬN</a:t>
            </a:r>
          </a:p>
        </p:txBody>
      </p:sp>
      <p:sp>
        <p:nvSpPr>
          <p:cNvPr id="15" name="box-172">
            <a:extLst xmlns:a="http://schemas.openxmlformats.org/drawingml/2006/main">
              <a:ext uri="{FF2B5EF4-FFF2-40B4-BE49-F238E27FC236}">
                <a16:creationId xmlns:a16="http://schemas.microsoft.com/office/drawing/2014/main" id="{19F83513-7DFC-4D15-B0D8-F8D1D364A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2289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xt-173">
            <a:extLst xmlns:a="http://schemas.openxmlformats.org/drawingml/2006/main">
              <a:ext uri="{FF2B5EF4-FFF2-40B4-BE49-F238E27FC236}">
                <a16:creationId xmlns:a16="http://schemas.microsoft.com/office/drawing/2014/main" id="{38ADB885-A008-4236-A8C6-D66B7454D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886200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101828"/>
                </a:solidFill>
                <a:latin typeface="Times New Roman"/>
                <a:ea typeface="Times New Roman"/>
                <a:cs typeface="Times New Roman"/>
              </a:rPr>
              <a:t>Đóng vòng trạng thái</a:t>
            </a:r>
          </a:p>
        </p:txBody>
      </p:sp>
      <p:sp>
        <p:nvSpPr>
          <p:cNvPr id="17" name="text-174">
            <a:extLst xmlns:a="http://schemas.openxmlformats.org/drawingml/2006/main">
              <a:ext uri="{FF2B5EF4-FFF2-40B4-BE49-F238E27FC236}">
                <a16:creationId xmlns:a16="http://schemas.microsoft.com/office/drawing/2014/main" id="{B11AFAFD-9C59-4172-92B3-FF1A825E8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448175"/>
            <a:ext cx="3143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B6472"/>
                </a:solidFill>
                <a:latin typeface="Times New Roman"/>
                <a:ea typeface="Times New Roman"/>
                <a:cs typeface="Times New Roman"/>
              </a:rPr>
              <a:t>Phân công shipper, bằng chứng giao hàng, thu hộ, sự cố và hẹn lại.</a:t>
            </a:r>
          </a:p>
        </p:txBody>
      </p:sp>
    </p:spTree>
    <p:extLst>
      <p:ext uri="{BB962C8B-B14F-4D97-AF65-F5344CB8AC3E}">
        <p14:creationId xmlns:p14="http://schemas.microsoft.com/office/powerpoint/2010/main" val="23125008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-175">
            <a:extLst xmlns:a="http://schemas.openxmlformats.org/drawingml/2006/main">
              <a:ext uri="{FF2B5EF4-FFF2-40B4-BE49-F238E27FC236}">
                <a16:creationId xmlns:a16="http://schemas.microsoft.com/office/drawing/2014/main" id="{8207BAA2-91D0-47BB-AA8D-51A43DBA1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3D8DFF"/>
                </a:solidFill>
                <a:latin typeface="Times New Roman"/>
                <a:ea typeface="Times New Roman"/>
                <a:cs typeface="Times New Roman"/>
              </a:rPr>
              <a:t>BẢO VỆ KHÓA LUẬN</a:t>
            </a:r>
          </a:p>
        </p:txBody>
      </p:sp>
      <p:sp>
        <p:nvSpPr>
          <p:cNvPr id="2" name="text-176">
            <a:extLst xmlns:a="http://schemas.openxmlformats.org/drawingml/2006/main">
              <a:ext uri="{FF2B5EF4-FFF2-40B4-BE49-F238E27FC236}">
                <a16:creationId xmlns:a16="http://schemas.microsoft.com/office/drawing/2014/main" id="{8989E71F-AB76-4AF0-AB09-B37DF909A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0810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101828"/>
                </a:solidFill>
                <a:latin typeface="Times New Roman"/>
                <a:ea typeface="Times New Roman"/>
                <a:cs typeface="Times New Roman"/>
              </a:rPr>
              <a:t>Hai cơ chế gợi ý bổ sung cho nhau</a:t>
            </a:r>
          </a:p>
        </p:txBody>
      </p:sp>
      <p:sp>
        <p:nvSpPr>
          <p:cNvPr id="3" name="line-177">
            <a:extLst xmlns:a="http://schemas.openxmlformats.org/drawingml/2006/main">
              <a:ext uri="{FF2B5EF4-FFF2-40B4-BE49-F238E27FC236}">
                <a16:creationId xmlns:a16="http://schemas.microsoft.com/office/drawing/2014/main" id="{712D68CE-F9CC-493A-9305-20CB60DE8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113919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text-178">
            <a:extLst xmlns:a="http://schemas.openxmlformats.org/drawingml/2006/main">
              <a:ext uri="{FF2B5EF4-FFF2-40B4-BE49-F238E27FC236}">
                <a16:creationId xmlns:a16="http://schemas.microsoft.com/office/drawing/2014/main" id="{99BB6CF0-8D71-4A9C-8F5B-5BB0C5DEB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722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5B6472"/>
                </a:solidFill>
                <a:latin typeface="Times New Roman"/>
                <a:ea typeface="Times New Roman"/>
                <a:cs typeface="Times New Roman"/>
              </a:rPr>
              <a:t>10</a:t>
            </a:r>
          </a:p>
        </p:txBody>
      </p:sp>
      <p:sp>
        <p:nvSpPr>
          <p:cNvPr id="5" name="text-179">
            <a:extLst xmlns:a="http://schemas.openxmlformats.org/drawingml/2006/main">
              <a:ext uri="{FF2B5EF4-FFF2-40B4-BE49-F238E27FC236}">
                <a16:creationId xmlns:a16="http://schemas.microsoft.com/office/drawing/2014/main" id="{0B72CCE0-5BA8-4072-8E10-B083FEA9C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3D8DFF"/>
                </a:solidFill>
                <a:latin typeface="Times New Roman"/>
                <a:ea typeface="Times New Roman"/>
                <a:cs typeface="Times New Roman"/>
              </a:rPr>
              <a:t>Apriori</a:t>
            </a:r>
          </a:p>
        </p:txBody>
      </p:sp>
      <p:sp>
        <p:nvSpPr>
          <p:cNvPr id="6" name="text-180">
            <a:extLst xmlns:a="http://schemas.openxmlformats.org/drawingml/2006/main">
              <a:ext uri="{FF2B5EF4-FFF2-40B4-BE49-F238E27FC236}">
                <a16:creationId xmlns:a16="http://schemas.microsoft.com/office/drawing/2014/main" id="{0E29E60B-7B83-4AFA-8861-44FDDF793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14600"/>
            <a:ext cx="4095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101828"/>
                </a:solidFill>
                <a:latin typeface="Times New Roman"/>
                <a:ea typeface="Times New Roman"/>
                <a:cs typeface="Times New Roman"/>
              </a:rPr>
              <a:t>Tìm sản phẩm thường xuất hiện cùng trong các đơn hợp lệ hoặc đã thanh toán.</a:t>
            </a:r>
          </a:p>
        </p:txBody>
      </p:sp>
      <p:sp>
        <p:nvSpPr>
          <p:cNvPr id="7" name="text-181">
            <a:extLst xmlns:a="http://schemas.openxmlformats.org/drawingml/2006/main">
              <a:ext uri="{FF2B5EF4-FFF2-40B4-BE49-F238E27FC236}">
                <a16:creationId xmlns:a16="http://schemas.microsoft.com/office/drawing/2014/main" id="{C1EA4A86-D749-43E0-9349-5B8241201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95675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01828"/>
                </a:solidFill>
                <a:latin typeface="Times New Roman"/>
                <a:ea typeface="Times New Roman"/>
                <a:cs typeface="Times New Roman"/>
              </a:rPr>
              <a:t>Support</a:t>
            </a:r>
          </a:p>
        </p:txBody>
      </p:sp>
      <p:sp>
        <p:nvSpPr>
          <p:cNvPr id="8" name="text-182">
            <a:extLst xmlns:a="http://schemas.openxmlformats.org/drawingml/2006/main">
              <a:ext uri="{FF2B5EF4-FFF2-40B4-BE49-F238E27FC236}">
                <a16:creationId xmlns:a16="http://schemas.microsoft.com/office/drawing/2014/main" id="{54EF5AFB-FF54-45FF-A8FF-C9BC1564B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495675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B6472"/>
                </a:solidFill>
                <a:latin typeface="Times New Roman"/>
                <a:ea typeface="Times New Roman"/>
                <a:cs typeface="Times New Roman"/>
              </a:rPr>
              <a:t>mức độ phổ biến của cặp sản phẩm</a:t>
            </a:r>
          </a:p>
        </p:txBody>
      </p:sp>
      <p:sp>
        <p:nvSpPr>
          <p:cNvPr id="9" name="text-183">
            <a:extLst xmlns:a="http://schemas.openxmlformats.org/drawingml/2006/main">
              <a:ext uri="{FF2B5EF4-FFF2-40B4-BE49-F238E27FC236}">
                <a16:creationId xmlns:a16="http://schemas.microsoft.com/office/drawing/2014/main" id="{95CD7200-A333-4A2A-9ACC-45EF15769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01828"/>
                </a:solidFill>
                <a:latin typeface="Times New Roman"/>
                <a:ea typeface="Times New Roman"/>
                <a:cs typeface="Times New Roman"/>
              </a:rPr>
              <a:t>Confidence</a:t>
            </a:r>
          </a:p>
        </p:txBody>
      </p:sp>
      <p:sp>
        <p:nvSpPr>
          <p:cNvPr id="10" name="text-184">
            <a:extLst xmlns:a="http://schemas.openxmlformats.org/drawingml/2006/main">
              <a:ext uri="{FF2B5EF4-FFF2-40B4-BE49-F238E27FC236}">
                <a16:creationId xmlns:a16="http://schemas.microsoft.com/office/drawing/2014/main" id="{6EC3D5CB-7B1B-4510-A1A7-5A4884427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0005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B6472"/>
                </a:solidFill>
                <a:latin typeface="Times New Roman"/>
                <a:ea typeface="Times New Roman"/>
                <a:cs typeface="Times New Roman"/>
              </a:rPr>
              <a:t>xác suất mua B khi đã mua A</a:t>
            </a:r>
          </a:p>
        </p:txBody>
      </p:sp>
      <p:sp>
        <p:nvSpPr>
          <p:cNvPr id="11" name="text-185">
            <a:extLst xmlns:a="http://schemas.openxmlformats.org/drawingml/2006/main">
              <a:ext uri="{FF2B5EF4-FFF2-40B4-BE49-F238E27FC236}">
                <a16:creationId xmlns:a16="http://schemas.microsoft.com/office/drawing/2014/main" id="{C94041CF-0633-457D-88D4-31141E1A4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0535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18A56A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8A56A"/>
                </a:solidFill>
                <a:latin typeface="Times New Roman"/>
                <a:ea typeface="Times New Roman"/>
                <a:cs typeface="Times New Roman"/>
              </a:rPr>
              <a:t>Content-based</a:t>
            </a:r>
          </a:p>
        </p:txBody>
      </p:sp>
      <p:sp>
        <p:nvSpPr>
          <p:cNvPr id="12" name="text-186">
            <a:extLst xmlns:a="http://schemas.openxmlformats.org/drawingml/2006/main">
              <a:ext uri="{FF2B5EF4-FFF2-40B4-BE49-F238E27FC236}">
                <a16:creationId xmlns:a16="http://schemas.microsoft.com/office/drawing/2014/main" id="{F3ED276B-D56C-4169-8A98-E6FA2B69E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05400"/>
            <a:ext cx="4095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B6472"/>
                </a:solidFill>
                <a:latin typeface="Times New Roman"/>
                <a:ea typeface="Times New Roman"/>
                <a:cs typeface="Times New Roman"/>
              </a:rPr>
              <a:t>So khớp danh mục, màu sắc, kích thước và mức giá để vẫn có kết quả khi dữ liệu giao dịch còn ít.</a:t>
            </a:r>
          </a:p>
        </p:txBody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fbddff3ca74c9e"/>
          <a:stretch xmlns:a="http://schemas.openxmlformats.org/drawingml/2006/main"/>
        </p:blipFill>
        <p:spPr>
          <a:xfrm xmlns:a="http://schemas.openxmlformats.org/drawingml/2006/main">
            <a:off x="4991100" y="2379635"/>
            <a:ext cx="6800850" cy="3032180"/>
          </a:xfrm>
          <a:prstGeom xmlns:a="http://schemas.openxmlformats.org/drawingml/2006/main" prst="roundRect">
            <a:avLst>
              <a:gd name="adj" fmla="val 2740"/>
            </a:avLst>
          </a:prstGeom>
        </p:spPr>
      </p:pic>
    </p:spTree>
    <p:extLst>
      <p:ext uri="{BB962C8B-B14F-4D97-AF65-F5344CB8AC3E}">
        <p14:creationId xmlns:p14="http://schemas.microsoft.com/office/powerpoint/2010/main" val="99998154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text-187">
            <a:extLst xmlns:a="http://schemas.openxmlformats.org/drawingml/2006/main">
              <a:ext uri="{FF2B5EF4-FFF2-40B4-BE49-F238E27FC236}">
                <a16:creationId xmlns:a16="http://schemas.microsoft.com/office/drawing/2014/main" id="{E94E8D4B-7933-455A-8B8D-9D1F80141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3D8DFF"/>
                </a:solidFill>
                <a:latin typeface="Times New Roman"/>
                <a:ea typeface="Times New Roman"/>
                <a:cs typeface="Times New Roman"/>
              </a:rPr>
              <a:t>BẢO VỆ KHÓA LUẬN</a:t>
            </a:r>
          </a:p>
        </p:txBody>
      </p:sp>
      <p:sp>
        <p:nvSpPr>
          <p:cNvPr id="2" name="text-188">
            <a:extLst xmlns:a="http://schemas.openxmlformats.org/drawingml/2006/main">
              <a:ext uri="{FF2B5EF4-FFF2-40B4-BE49-F238E27FC236}">
                <a16:creationId xmlns:a16="http://schemas.microsoft.com/office/drawing/2014/main" id="{A7BF1137-EEAB-49F5-A1D4-F332EE415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0810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101828"/>
                </a:solidFill>
                <a:latin typeface="Times New Roman"/>
                <a:ea typeface="Times New Roman"/>
                <a:cs typeface="Times New Roman"/>
              </a:rPr>
              <a:t>Pipeline phối cảnh AI gồm sáu bước</a:t>
            </a:r>
          </a:p>
        </p:txBody>
      </p:sp>
      <p:sp>
        <p:nvSpPr>
          <p:cNvPr id="3" name="line-189">
            <a:extLst xmlns:a="http://schemas.openxmlformats.org/drawingml/2006/main">
              <a:ext uri="{FF2B5EF4-FFF2-40B4-BE49-F238E27FC236}">
                <a16:creationId xmlns:a16="http://schemas.microsoft.com/office/drawing/2014/main" id="{D1AAF145-2D38-455C-81A4-F0FD1D893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113919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text-190">
            <a:extLst xmlns:a="http://schemas.openxmlformats.org/drawingml/2006/main">
              <a:ext uri="{FF2B5EF4-FFF2-40B4-BE49-F238E27FC236}">
                <a16:creationId xmlns:a16="http://schemas.microsoft.com/office/drawing/2014/main" id="{1CFD0260-40BA-4FD4-8744-38C656DCF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722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5B6472"/>
                </a:solidFill>
                <a:latin typeface="Times New Roman"/>
                <a:ea typeface="Times New Roman"/>
                <a:cs typeface="Times New Roman"/>
              </a:rPr>
              <a:t>11</a:t>
            </a:r>
          </a:p>
        </p:txBody>
      </p:sp>
      <p:sp>
        <p:nvSpPr>
          <p:cNvPr id="5" name="arrow-191">
            <a:extLst xmlns:a="http://schemas.openxmlformats.org/drawingml/2006/main">
              <a:ext uri="{FF2B5EF4-FFF2-40B4-BE49-F238E27FC236}">
                <a16:creationId xmlns:a16="http://schemas.microsoft.com/office/drawing/2014/main" id="{202E4F9F-E035-48F5-9BF6-DB35CD023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552700"/>
            <a:ext cx="6477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arrow-192">
            <a:extLst xmlns:a="http://schemas.openxmlformats.org/drawingml/2006/main">
              <a:ext uri="{FF2B5EF4-FFF2-40B4-BE49-F238E27FC236}">
                <a16:creationId xmlns:a16="http://schemas.microsoft.com/office/drawing/2014/main" id="{6125537D-3361-4B0D-BDCF-34BC58E31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552700"/>
            <a:ext cx="6477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arrow-193">
            <a:extLst xmlns:a="http://schemas.openxmlformats.org/drawingml/2006/main">
              <a:ext uri="{FF2B5EF4-FFF2-40B4-BE49-F238E27FC236}">
                <a16:creationId xmlns:a16="http://schemas.microsoft.com/office/drawing/2014/main" id="{46A638EF-5806-47B3-9E8B-0692A5350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762500"/>
            <a:ext cx="6477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8A5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arrow-194">
            <a:extLst xmlns:a="http://schemas.openxmlformats.org/drawingml/2006/main">
              <a:ext uri="{FF2B5EF4-FFF2-40B4-BE49-F238E27FC236}">
                <a16:creationId xmlns:a16="http://schemas.microsoft.com/office/drawing/2014/main" id="{C1842D88-7665-4867-9E98-953B3F241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762500"/>
            <a:ext cx="6477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8A5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box-195">
            <a:extLst xmlns:a="http://schemas.openxmlformats.org/drawingml/2006/main">
              <a:ext uri="{FF2B5EF4-FFF2-40B4-BE49-F238E27FC236}">
                <a16:creationId xmlns:a16="http://schemas.microsoft.com/office/drawing/2014/main" id="{B19FE8BB-93C1-47FE-A694-7E55C542A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31432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-196">
            <a:extLst xmlns:a="http://schemas.openxmlformats.org/drawingml/2006/main">
              <a:ext uri="{FF2B5EF4-FFF2-40B4-BE49-F238E27FC236}">
                <a16:creationId xmlns:a16="http://schemas.microsoft.com/office/drawing/2014/main" id="{51452A84-F591-453C-A64B-2AA84FA3E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9075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3D8DFF"/>
                </a:solidFill>
                <a:latin typeface="Times New Roman"/>
                <a:ea typeface="Times New Roman"/>
                <a:cs typeface="Times New Roman"/>
              </a:rPr>
              <a:t>01</a:t>
            </a:r>
          </a:p>
        </p:txBody>
      </p:sp>
      <p:sp>
        <p:nvSpPr>
          <p:cNvPr id="11" name="text-197">
            <a:extLst xmlns:a="http://schemas.openxmlformats.org/drawingml/2006/main">
              <a:ext uri="{FF2B5EF4-FFF2-40B4-BE49-F238E27FC236}">
                <a16:creationId xmlns:a16="http://schemas.microsoft.com/office/drawing/2014/main" id="{D1F7DF6B-F83A-420C-8A1E-392550F0A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908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101828"/>
                </a:solidFill>
                <a:latin typeface="Times New Roman"/>
                <a:ea typeface="Times New Roman"/>
                <a:cs typeface="Times New Roman"/>
              </a:rPr>
              <a:t>Xóa nền</a:t>
            </a:r>
          </a:p>
        </p:txBody>
      </p:sp>
      <p:sp>
        <p:nvSpPr>
          <p:cNvPr id="12" name="text-198">
            <a:extLst xmlns:a="http://schemas.openxmlformats.org/drawingml/2006/main">
              <a:ext uri="{FF2B5EF4-FFF2-40B4-BE49-F238E27FC236}">
                <a16:creationId xmlns:a16="http://schemas.microsoft.com/office/drawing/2014/main" id="{4E3F647A-990B-47D1-82F0-581C0346D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099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B6472"/>
                </a:solidFill>
                <a:latin typeface="Times New Roman"/>
                <a:ea typeface="Times New Roman"/>
                <a:cs typeface="Times New Roman"/>
              </a:rPr>
              <a:t>U2NetP / rembg</a:t>
            </a:r>
          </a:p>
        </p:txBody>
      </p:sp>
      <p:sp>
        <p:nvSpPr>
          <p:cNvPr id="13" name="box-199">
            <a:extLst xmlns:a="http://schemas.openxmlformats.org/drawingml/2006/main">
              <a:ext uri="{FF2B5EF4-FFF2-40B4-BE49-F238E27FC236}">
                <a16:creationId xmlns:a16="http://schemas.microsoft.com/office/drawing/2014/main" id="{F9C4831D-C330-498E-ADB3-3344D3A0A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000250"/>
            <a:ext cx="31432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-200">
            <a:extLst xmlns:a="http://schemas.openxmlformats.org/drawingml/2006/main">
              <a:ext uri="{FF2B5EF4-FFF2-40B4-BE49-F238E27FC236}">
                <a16:creationId xmlns:a16="http://schemas.microsoft.com/office/drawing/2014/main" id="{D9501977-2FB6-4B4B-B1CF-DE8A17521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19075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3D8DFF"/>
                </a:solidFill>
                <a:latin typeface="Times New Roman"/>
                <a:ea typeface="Times New Roman"/>
                <a:cs typeface="Times New Roman"/>
              </a:rPr>
              <a:t>02</a:t>
            </a:r>
          </a:p>
        </p:txBody>
      </p:sp>
      <p:sp>
        <p:nvSpPr>
          <p:cNvPr id="15" name="text-201">
            <a:extLst xmlns:a="http://schemas.openxmlformats.org/drawingml/2006/main">
              <a:ext uri="{FF2B5EF4-FFF2-40B4-BE49-F238E27FC236}">
                <a16:creationId xmlns:a16="http://schemas.microsoft.com/office/drawing/2014/main" id="{BE29B487-7F1B-48C2-BE47-B71BE75C6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5908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101828"/>
                </a:solidFill>
                <a:latin typeface="Times New Roman"/>
                <a:ea typeface="Times New Roman"/>
                <a:cs typeface="Times New Roman"/>
              </a:rPr>
              <a:t>Phân vùng</a:t>
            </a:r>
          </a:p>
        </p:txBody>
      </p:sp>
      <p:sp>
        <p:nvSpPr>
          <p:cNvPr id="16" name="text-202">
            <a:extLst xmlns:a="http://schemas.openxmlformats.org/drawingml/2006/main">
              <a:ext uri="{FF2B5EF4-FFF2-40B4-BE49-F238E27FC236}">
                <a16:creationId xmlns:a16="http://schemas.microsoft.com/office/drawing/2014/main" id="{ABA5E6A5-7D99-4615-A5B6-40FDBE1E4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0099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B6472"/>
                </a:solidFill>
                <a:latin typeface="Times New Roman"/>
                <a:ea typeface="Times New Roman"/>
                <a:cs typeface="Times New Roman"/>
              </a:rPr>
              <a:t>SegFormer: sàn / tường</a:t>
            </a:r>
          </a:p>
        </p:txBody>
      </p:sp>
      <p:sp>
        <p:nvSpPr>
          <p:cNvPr id="17" name="box-203">
            <a:extLst xmlns:a="http://schemas.openxmlformats.org/drawingml/2006/main">
              <a:ext uri="{FF2B5EF4-FFF2-40B4-BE49-F238E27FC236}">
                <a16:creationId xmlns:a16="http://schemas.microsoft.com/office/drawing/2014/main" id="{97111B88-A2C5-48D7-9598-8604EDE76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000250"/>
            <a:ext cx="31432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-204">
            <a:extLst xmlns:a="http://schemas.openxmlformats.org/drawingml/2006/main">
              <a:ext uri="{FF2B5EF4-FFF2-40B4-BE49-F238E27FC236}">
                <a16:creationId xmlns:a16="http://schemas.microsoft.com/office/drawing/2014/main" id="{275D8C96-E61B-4464-8F6D-3273967EF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19075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3D8DFF"/>
                </a:solidFill>
                <a:latin typeface="Times New Roman"/>
                <a:ea typeface="Times New Roman"/>
                <a:cs typeface="Times New Roman"/>
              </a:rPr>
              <a:t>03</a:t>
            </a:r>
          </a:p>
        </p:txBody>
      </p:sp>
      <p:sp>
        <p:nvSpPr>
          <p:cNvPr id="19" name="text-205">
            <a:extLst xmlns:a="http://schemas.openxmlformats.org/drawingml/2006/main">
              <a:ext uri="{FF2B5EF4-FFF2-40B4-BE49-F238E27FC236}">
                <a16:creationId xmlns:a16="http://schemas.microsoft.com/office/drawing/2014/main" id="{A6BF0676-EC57-451F-8C5A-FE65F1277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5908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101828"/>
                </a:solidFill>
                <a:latin typeface="Times New Roman"/>
                <a:ea typeface="Times New Roman"/>
                <a:cs typeface="Times New Roman"/>
              </a:rPr>
              <a:t>Chiều sâu</a:t>
            </a:r>
          </a:p>
        </p:txBody>
      </p:sp>
      <p:sp>
        <p:nvSpPr>
          <p:cNvPr id="20" name="text-206">
            <a:extLst xmlns:a="http://schemas.openxmlformats.org/drawingml/2006/main">
              <a:ext uri="{FF2B5EF4-FFF2-40B4-BE49-F238E27FC236}">
                <a16:creationId xmlns:a16="http://schemas.microsoft.com/office/drawing/2014/main" id="{9275C471-00EC-4DDD-A442-F249AF68E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0099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B6472"/>
                </a:solidFill>
                <a:latin typeface="Times New Roman"/>
                <a:ea typeface="Times New Roman"/>
                <a:cs typeface="Times New Roman"/>
              </a:rPr>
              <a:t>Depth Anything V2</a:t>
            </a:r>
          </a:p>
        </p:txBody>
      </p:sp>
      <p:sp>
        <p:nvSpPr>
          <p:cNvPr id="21" name="box-207">
            <a:extLst xmlns:a="http://schemas.openxmlformats.org/drawingml/2006/main">
              <a:ext uri="{FF2B5EF4-FFF2-40B4-BE49-F238E27FC236}">
                <a16:creationId xmlns:a16="http://schemas.microsoft.com/office/drawing/2014/main" id="{97B6D858-A595-478F-996A-A3595878E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10050"/>
            <a:ext cx="31432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ext-208">
            <a:extLst xmlns:a="http://schemas.openxmlformats.org/drawingml/2006/main">
              <a:ext uri="{FF2B5EF4-FFF2-40B4-BE49-F238E27FC236}">
                <a16:creationId xmlns:a16="http://schemas.microsoft.com/office/drawing/2014/main" id="{0E503EDB-32CA-453E-BAE4-E7F0EC68B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0055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18A56A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8A56A"/>
                </a:solidFill>
                <a:latin typeface="Times New Roman"/>
                <a:ea typeface="Times New Roman"/>
                <a:cs typeface="Times New Roman"/>
              </a:rPr>
              <a:t>04</a:t>
            </a:r>
          </a:p>
        </p:txBody>
      </p:sp>
      <p:sp>
        <p:nvSpPr>
          <p:cNvPr id="23" name="text-209">
            <a:extLst xmlns:a="http://schemas.openxmlformats.org/drawingml/2006/main">
              <a:ext uri="{FF2B5EF4-FFF2-40B4-BE49-F238E27FC236}">
                <a16:creationId xmlns:a16="http://schemas.microsoft.com/office/drawing/2014/main" id="{A545A4C9-2D1F-4993-A00A-C7FA6CBAC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8006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101828"/>
                </a:solidFill>
                <a:latin typeface="Times New Roman"/>
                <a:ea typeface="Times New Roman"/>
                <a:cs typeface="Times New Roman"/>
              </a:rPr>
              <a:t>Đặt vật thể</a:t>
            </a:r>
          </a:p>
        </p:txBody>
      </p:sp>
      <p:sp>
        <p:nvSpPr>
          <p:cNvPr id="24" name="text-210">
            <a:extLst xmlns:a="http://schemas.openxmlformats.org/drawingml/2006/main">
              <a:ext uri="{FF2B5EF4-FFF2-40B4-BE49-F238E27FC236}">
                <a16:creationId xmlns:a16="http://schemas.microsoft.com/office/drawing/2014/main" id="{1CA9A536-5631-4AD8-85C3-915A41F6A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2197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B6472"/>
                </a:solidFill>
                <a:latin typeface="Times New Roman"/>
                <a:ea typeface="Times New Roman"/>
                <a:cs typeface="Times New Roman"/>
              </a:rPr>
              <a:t>Mặt phẳng + tỷ lệ gần xa</a:t>
            </a:r>
          </a:p>
        </p:txBody>
      </p:sp>
      <p:sp>
        <p:nvSpPr>
          <p:cNvPr id="25" name="box-211">
            <a:extLst xmlns:a="http://schemas.openxmlformats.org/drawingml/2006/main">
              <a:ext uri="{FF2B5EF4-FFF2-40B4-BE49-F238E27FC236}">
                <a16:creationId xmlns:a16="http://schemas.microsoft.com/office/drawing/2014/main" id="{E2BAEA1C-1B28-4717-8A2D-0866ED702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210050"/>
            <a:ext cx="31432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text-212">
            <a:extLst xmlns:a="http://schemas.openxmlformats.org/drawingml/2006/main">
              <a:ext uri="{FF2B5EF4-FFF2-40B4-BE49-F238E27FC236}">
                <a16:creationId xmlns:a16="http://schemas.microsoft.com/office/drawing/2014/main" id="{20492767-2CCF-4DFC-81F9-FA5B7BED2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40055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18A56A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8A56A"/>
                </a:solidFill>
                <a:latin typeface="Times New Roman"/>
                <a:ea typeface="Times New Roman"/>
                <a:cs typeface="Times New Roman"/>
              </a:rPr>
              <a:t>05</a:t>
            </a:r>
          </a:p>
        </p:txBody>
      </p:sp>
      <p:sp>
        <p:nvSpPr>
          <p:cNvPr id="27" name="text-213">
            <a:extLst xmlns:a="http://schemas.openxmlformats.org/drawingml/2006/main">
              <a:ext uri="{FF2B5EF4-FFF2-40B4-BE49-F238E27FC236}">
                <a16:creationId xmlns:a16="http://schemas.microsoft.com/office/drawing/2014/main" id="{BF4C9591-C2A6-4A2A-8A6F-90ED37C2F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8006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101828"/>
                </a:solidFill>
                <a:latin typeface="Times New Roman"/>
                <a:ea typeface="Times New Roman"/>
                <a:cs typeface="Times New Roman"/>
              </a:rPr>
              <a:t>Hòa cảnh</a:t>
            </a:r>
          </a:p>
        </p:txBody>
      </p:sp>
      <p:sp>
        <p:nvSpPr>
          <p:cNvPr id="28" name="text-214">
            <a:extLst xmlns:a="http://schemas.openxmlformats.org/drawingml/2006/main">
              <a:ext uri="{FF2B5EF4-FFF2-40B4-BE49-F238E27FC236}">
                <a16:creationId xmlns:a16="http://schemas.microsoft.com/office/drawing/2014/main" id="{A171330B-A59A-4EDA-BFC9-A073996AF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52197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B6472"/>
                </a:solidFill>
                <a:latin typeface="Times New Roman"/>
                <a:ea typeface="Times New Roman"/>
                <a:cs typeface="Times New Roman"/>
              </a:rPr>
              <a:t>Ánh sáng, bóng, phối cảnh</a:t>
            </a:r>
          </a:p>
        </p:txBody>
      </p:sp>
      <p:sp>
        <p:nvSpPr>
          <p:cNvPr id="29" name="box-215">
            <a:extLst xmlns:a="http://schemas.openxmlformats.org/drawingml/2006/main">
              <a:ext uri="{FF2B5EF4-FFF2-40B4-BE49-F238E27FC236}">
                <a16:creationId xmlns:a16="http://schemas.microsoft.com/office/drawing/2014/main" id="{51A04EAB-2CFC-4B45-AF3C-7E578556B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210050"/>
            <a:ext cx="31432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text-216">
            <a:extLst xmlns:a="http://schemas.openxmlformats.org/drawingml/2006/main">
              <a:ext uri="{FF2B5EF4-FFF2-40B4-BE49-F238E27FC236}">
                <a16:creationId xmlns:a16="http://schemas.microsoft.com/office/drawing/2014/main" id="{AF9BC0EE-B31C-41A8-BB34-92CEADB75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40055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18A56A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8A56A"/>
                </a:solidFill>
                <a:latin typeface="Times New Roman"/>
                <a:ea typeface="Times New Roman"/>
                <a:cs typeface="Times New Roman"/>
              </a:rPr>
              <a:t>06</a:t>
            </a:r>
          </a:p>
        </p:txBody>
      </p:sp>
      <p:sp>
        <p:nvSpPr>
          <p:cNvPr id="31" name="text-217">
            <a:extLst xmlns:a="http://schemas.openxmlformats.org/drawingml/2006/main">
              <a:ext uri="{FF2B5EF4-FFF2-40B4-BE49-F238E27FC236}">
                <a16:creationId xmlns:a16="http://schemas.microsoft.com/office/drawing/2014/main" id="{994AF725-E330-4389-81B0-511B7A336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8006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101828"/>
                </a:solidFill>
                <a:latin typeface="Times New Roman"/>
                <a:ea typeface="Times New Roman"/>
                <a:cs typeface="Times New Roman"/>
              </a:rPr>
              <a:t>Che khuất</a:t>
            </a:r>
          </a:p>
        </p:txBody>
      </p:sp>
      <p:sp>
        <p:nvSpPr>
          <p:cNvPr id="32" name="text-218">
            <a:extLst xmlns:a="http://schemas.openxmlformats.org/drawingml/2006/main">
              <a:ext uri="{FF2B5EF4-FFF2-40B4-BE49-F238E27FC236}">
                <a16:creationId xmlns:a16="http://schemas.microsoft.com/office/drawing/2014/main" id="{C0A54060-C397-4656-8CA9-AD1058EA9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52197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B6472"/>
                </a:solidFill>
                <a:latin typeface="Times New Roman"/>
                <a:ea typeface="Times New Roman"/>
                <a:cs typeface="Times New Roman"/>
              </a:rPr>
              <a:t>Foreground + mask chỉnh sửa</a:t>
            </a:r>
          </a:p>
        </p:txBody>
      </p:sp>
    </p:spTree>
    <p:extLst>
      <p:ext uri="{BB962C8B-B14F-4D97-AF65-F5344CB8AC3E}">
        <p14:creationId xmlns:p14="http://schemas.microsoft.com/office/powerpoint/2010/main" val="176730540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ext-219">
            <a:extLst xmlns:a="http://schemas.openxmlformats.org/drawingml/2006/main">
              <a:ext uri="{FF2B5EF4-FFF2-40B4-BE49-F238E27FC236}">
                <a16:creationId xmlns:a16="http://schemas.microsoft.com/office/drawing/2014/main" id="{4A93237D-0FE5-4AA7-9B65-A39E9F319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3D8DFF"/>
                </a:solidFill>
                <a:latin typeface="Times New Roman"/>
                <a:ea typeface="Times New Roman"/>
                <a:cs typeface="Times New Roman"/>
              </a:rPr>
              <a:t>BẢO VỆ KHÓA LUẬN</a:t>
            </a:r>
          </a:p>
        </p:txBody>
      </p:sp>
      <p:sp>
        <p:nvSpPr>
          <p:cNvPr id="2" name="text-220">
            <a:extLst xmlns:a="http://schemas.openxmlformats.org/drawingml/2006/main">
              <a:ext uri="{FF2B5EF4-FFF2-40B4-BE49-F238E27FC236}">
                <a16:creationId xmlns:a16="http://schemas.microsoft.com/office/drawing/2014/main" id="{E7404752-BD93-4197-9294-BA5AE5DC7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0810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101828"/>
                </a:solidFill>
                <a:latin typeface="Times New Roman"/>
                <a:ea typeface="Times New Roman"/>
                <a:cs typeface="Times New Roman"/>
              </a:rPr>
              <a:t>Người dùng kiểm soát, AI tăng độ chân thực</a:t>
            </a:r>
          </a:p>
        </p:txBody>
      </p:sp>
      <p:sp>
        <p:nvSpPr>
          <p:cNvPr id="3" name="line-221">
            <a:extLst xmlns:a="http://schemas.openxmlformats.org/drawingml/2006/main">
              <a:ext uri="{FF2B5EF4-FFF2-40B4-BE49-F238E27FC236}">
                <a16:creationId xmlns:a16="http://schemas.microsoft.com/office/drawing/2014/main" id="{4D56B9DB-8E58-457F-ABED-7088826CD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113919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text-222">
            <a:extLst xmlns:a="http://schemas.openxmlformats.org/drawingml/2006/main">
              <a:ext uri="{FF2B5EF4-FFF2-40B4-BE49-F238E27FC236}">
                <a16:creationId xmlns:a16="http://schemas.microsoft.com/office/drawing/2014/main" id="{974B6172-DA53-423B-9872-932759DD1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722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5B6472"/>
                </a:solidFill>
                <a:latin typeface="Times New Roman"/>
                <a:ea typeface="Times New Roman"/>
                <a:cs typeface="Times New Roman"/>
              </a:rPr>
              <a:t>12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0063d1c1ad47a8"/>
          <a:stretch xmlns:a="http://schemas.openxmlformats.org/drawingml/2006/main"/>
        </p:blipFill>
        <p:spPr>
          <a:xfrm xmlns:a="http://schemas.openxmlformats.org/drawingml/2006/main">
            <a:off x="400050" y="2181885"/>
            <a:ext cx="7715250" cy="3484829"/>
          </a:xfrm>
          <a:prstGeom xmlns:a="http://schemas.openxmlformats.org/drawingml/2006/main" prst="roundRect">
            <a:avLst>
              <a:gd name="adj" fmla="val 2655"/>
            </a:avLst>
          </a:prstGeom>
        </p:spPr>
      </p:pic>
      <p:sp>
        <p:nvSpPr>
          <p:cNvPr id="6" name="text-223">
            <a:extLst xmlns:a="http://schemas.openxmlformats.org/drawingml/2006/main">
              <a:ext uri="{FF2B5EF4-FFF2-40B4-BE49-F238E27FC236}">
                <a16:creationId xmlns:a16="http://schemas.microsoft.com/office/drawing/2014/main" id="{DBFEF231-9E7C-41C4-8F9E-A5175EA5F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01930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101828"/>
                </a:solidFill>
                <a:latin typeface="Times New Roman"/>
                <a:ea typeface="Times New Roman"/>
                <a:cs typeface="Times New Roman"/>
              </a:rPr>
              <a:t>Hai chế độ bổ trợ</a:t>
            </a:r>
          </a:p>
        </p:txBody>
      </p:sp>
      <p:sp>
        <p:nvSpPr>
          <p:cNvPr id="7" name="box-224">
            <a:extLst xmlns:a="http://schemas.openxmlformats.org/drawingml/2006/main">
              <a:ext uri="{FF2B5EF4-FFF2-40B4-BE49-F238E27FC236}">
                <a16:creationId xmlns:a16="http://schemas.microsoft.com/office/drawing/2014/main" id="{6C5752E5-3790-4718-8405-B9992FC01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8003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-225">
            <a:extLst xmlns:a="http://schemas.openxmlformats.org/drawingml/2006/main">
              <a:ext uri="{FF2B5EF4-FFF2-40B4-BE49-F238E27FC236}">
                <a16:creationId xmlns:a16="http://schemas.microsoft.com/office/drawing/2014/main" id="{3F54F02C-A023-4D94-B432-AE23C2666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724150"/>
            <a:ext cx="27241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01828"/>
                </a:solidFill>
                <a:latin typeface="Times New Roman"/>
                <a:ea typeface="Times New Roman"/>
                <a:cs typeface="Times New Roman"/>
              </a:rPr>
              <a:t>Tự điều chỉnh: vị trí, kích thước, xoay, độ sáng và bóng</a:t>
            </a:r>
          </a:p>
        </p:txBody>
      </p:sp>
      <p:sp>
        <p:nvSpPr>
          <p:cNvPr id="9" name="box-226">
            <a:extLst xmlns:a="http://schemas.openxmlformats.org/drawingml/2006/main">
              <a:ext uri="{FF2B5EF4-FFF2-40B4-BE49-F238E27FC236}">
                <a16:creationId xmlns:a16="http://schemas.microsoft.com/office/drawing/2014/main" id="{CBE569B1-245B-4194-B29C-62D797207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6385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-227">
            <a:extLst xmlns:a="http://schemas.openxmlformats.org/drawingml/2006/main">
              <a:ext uri="{FF2B5EF4-FFF2-40B4-BE49-F238E27FC236}">
                <a16:creationId xmlns:a16="http://schemas.microsoft.com/office/drawing/2014/main" id="{478DCAB5-A49B-483C-BFA5-C12AF5166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562350"/>
            <a:ext cx="27241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01828"/>
                </a:solidFill>
                <a:latin typeface="Times New Roman"/>
                <a:ea typeface="Times New Roman"/>
                <a:cs typeface="Times New Roman"/>
              </a:rPr>
              <a:t>AI tạo ảnh: OpenAI hoặc Gemini hòa sản phẩm vào căn phòng</a:t>
            </a:r>
          </a:p>
        </p:txBody>
      </p:sp>
      <p:sp>
        <p:nvSpPr>
          <p:cNvPr id="11" name="box-228">
            <a:extLst xmlns:a="http://schemas.openxmlformats.org/drawingml/2006/main">
              <a:ext uri="{FF2B5EF4-FFF2-40B4-BE49-F238E27FC236}">
                <a16:creationId xmlns:a16="http://schemas.microsoft.com/office/drawing/2014/main" id="{35B4ECE9-4978-43E9-9B32-D939EA7E0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4767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-229">
            <a:extLst xmlns:a="http://schemas.openxmlformats.org/drawingml/2006/main">
              <a:ext uri="{FF2B5EF4-FFF2-40B4-BE49-F238E27FC236}">
                <a16:creationId xmlns:a16="http://schemas.microsoft.com/office/drawing/2014/main" id="{AB8A65D1-8CBE-49A7-A631-1B3799100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400550"/>
            <a:ext cx="27241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01828"/>
                </a:solidFill>
                <a:latin typeface="Times New Roman"/>
                <a:ea typeface="Times New Roman"/>
                <a:cs typeface="Times New Roman"/>
              </a:rPr>
              <a:t>Lưu thiết kế, tải lại và xuất ảnh kết quả</a:t>
            </a:r>
          </a:p>
        </p:txBody>
      </p:sp>
      <p:sp>
        <p:nvSpPr>
          <p:cNvPr id="13" name="box-230">
            <a:extLst xmlns:a="http://schemas.openxmlformats.org/drawingml/2006/main">
              <a:ext uri="{FF2B5EF4-FFF2-40B4-BE49-F238E27FC236}">
                <a16:creationId xmlns:a16="http://schemas.microsoft.com/office/drawing/2014/main" id="{9289F323-11AF-4F4C-B8F8-A2144CD09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143500"/>
            <a:ext cx="2952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-231">
            <a:extLst xmlns:a="http://schemas.openxmlformats.org/drawingml/2006/main">
              <a:ext uri="{FF2B5EF4-FFF2-40B4-BE49-F238E27FC236}">
                <a16:creationId xmlns:a16="http://schemas.microsoft.com/office/drawing/2014/main" id="{BD251117-A68E-480D-88B8-356F0F0A9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257800"/>
            <a:ext cx="2571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3D8DFF"/>
                </a:solidFill>
                <a:latin typeface="Times New Roman"/>
                <a:ea typeface="Times New Roman"/>
                <a:cs typeface="Times New Roman"/>
              </a:rPr>
              <a:t>AI là phương án tham khảo; người dùng vẫn có thể hiệu chỉnh khi nhận diện chưa chính xác.</a:t>
            </a:r>
          </a:p>
        </p:txBody>
      </p:sp>
    </p:spTree>
    <p:extLst>
      <p:ext uri="{BB962C8B-B14F-4D97-AF65-F5344CB8AC3E}">
        <p14:creationId xmlns:p14="http://schemas.microsoft.com/office/powerpoint/2010/main" val="176066750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text-232">
            <a:extLst xmlns:a="http://schemas.openxmlformats.org/drawingml/2006/main">
              <a:ext uri="{FF2B5EF4-FFF2-40B4-BE49-F238E27FC236}">
                <a16:creationId xmlns:a16="http://schemas.microsoft.com/office/drawing/2014/main" id="{CEA0D39F-DC29-4C42-9EDD-FA7C1054F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3D8DFF"/>
                </a:solidFill>
                <a:latin typeface="Times New Roman"/>
                <a:ea typeface="Times New Roman"/>
                <a:cs typeface="Times New Roman"/>
              </a:rPr>
              <a:t>BẢO VỆ KHÓA LUẬN</a:t>
            </a:r>
          </a:p>
        </p:txBody>
      </p:sp>
      <p:sp>
        <p:nvSpPr>
          <p:cNvPr id="2" name="text-233">
            <a:extLst xmlns:a="http://schemas.openxmlformats.org/drawingml/2006/main">
              <a:ext uri="{FF2B5EF4-FFF2-40B4-BE49-F238E27FC236}">
                <a16:creationId xmlns:a16="http://schemas.microsoft.com/office/drawing/2014/main" id="{15C6E680-EFA5-4199-8B8D-AEA4EA8E3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0810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101828"/>
                </a:solidFill>
                <a:latin typeface="Times New Roman"/>
                <a:ea typeface="Times New Roman"/>
                <a:cs typeface="Times New Roman"/>
              </a:rPr>
              <a:t>Bảo mật và toàn vẹn được thiết kế xuyên suốt</a:t>
            </a:r>
          </a:p>
        </p:txBody>
      </p:sp>
      <p:sp>
        <p:nvSpPr>
          <p:cNvPr id="3" name="line-234">
            <a:extLst xmlns:a="http://schemas.openxmlformats.org/drawingml/2006/main">
              <a:ext uri="{FF2B5EF4-FFF2-40B4-BE49-F238E27FC236}">
                <a16:creationId xmlns:a16="http://schemas.microsoft.com/office/drawing/2014/main" id="{6184C7F9-E150-471F-BEDE-C8C432C87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113919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text-235">
            <a:extLst xmlns:a="http://schemas.openxmlformats.org/drawingml/2006/main">
              <a:ext uri="{FF2B5EF4-FFF2-40B4-BE49-F238E27FC236}">
                <a16:creationId xmlns:a16="http://schemas.microsoft.com/office/drawing/2014/main" id="{047CB6F2-FEE7-4C5B-A6E3-80B0557C2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722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5B6472"/>
                </a:solidFill>
                <a:latin typeface="Times New Roman"/>
                <a:ea typeface="Times New Roman"/>
                <a:cs typeface="Times New Roman"/>
              </a:rPr>
              <a:t>13</a:t>
            </a:r>
          </a:p>
        </p:txBody>
      </p:sp>
      <p:sp>
        <p:nvSpPr>
          <p:cNvPr id="5" name="line-236">
            <a:extLst xmlns:a="http://schemas.openxmlformats.org/drawingml/2006/main">
              <a:ext uri="{FF2B5EF4-FFF2-40B4-BE49-F238E27FC236}">
                <a16:creationId xmlns:a16="http://schemas.microsoft.com/office/drawing/2014/main" id="{FF3DB08E-CA45-4F22-9A18-4EE1AA466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19300"/>
            <a:ext cx="3524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3D8DFF"/>
            </a:solidFill>
            <a:prstDash val="solid"/>
          </a:ln>
        </p:spPr>
      </p:sp>
      <p:sp>
        <p:nvSpPr>
          <p:cNvPr id="6" name="text-237">
            <a:extLst xmlns:a="http://schemas.openxmlformats.org/drawingml/2006/main">
              <a:ext uri="{FF2B5EF4-FFF2-40B4-BE49-F238E27FC236}">
                <a16:creationId xmlns:a16="http://schemas.microsoft.com/office/drawing/2014/main" id="{A31926E9-70A0-4283-80E9-2EA64EB3E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00300"/>
            <a:ext cx="3524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3D8DFF"/>
                </a:solidFill>
                <a:latin typeface="Times New Roman"/>
                <a:ea typeface="Times New Roman"/>
                <a:cs typeface="Times New Roman"/>
              </a:rPr>
              <a:t>XÁC THỰC &amp; PHÂN QUYỀN</a:t>
            </a:r>
          </a:p>
        </p:txBody>
      </p:sp>
      <p:sp>
        <p:nvSpPr>
          <p:cNvPr id="7" name="box-238">
            <a:extLst xmlns:a="http://schemas.openxmlformats.org/drawingml/2006/main">
              <a:ext uri="{FF2B5EF4-FFF2-40B4-BE49-F238E27FC236}">
                <a16:creationId xmlns:a16="http://schemas.microsoft.com/office/drawing/2014/main" id="{23E12EAD-D5B1-4560-B710-63D5F8952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194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-239">
            <a:extLst xmlns:a="http://schemas.openxmlformats.org/drawingml/2006/main">
              <a:ext uri="{FF2B5EF4-FFF2-40B4-BE49-F238E27FC236}">
                <a16:creationId xmlns:a16="http://schemas.microsoft.com/office/drawing/2014/main" id="{2C735FC9-68C7-4FBD-BBEA-9BE99BFEA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43250"/>
            <a:ext cx="320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01828"/>
                </a:solidFill>
                <a:latin typeface="Times New Roman"/>
                <a:ea typeface="Times New Roman"/>
                <a:cs typeface="Times New Roman"/>
              </a:rPr>
              <a:t>JWT có thời hạn</a:t>
            </a:r>
          </a:p>
        </p:txBody>
      </p:sp>
      <p:sp>
        <p:nvSpPr>
          <p:cNvPr id="9" name="box-240">
            <a:extLst xmlns:a="http://schemas.openxmlformats.org/drawingml/2006/main">
              <a:ext uri="{FF2B5EF4-FFF2-40B4-BE49-F238E27FC236}">
                <a16:creationId xmlns:a16="http://schemas.microsoft.com/office/drawing/2014/main" id="{8F050B9A-CE5F-48C9-A61D-01FFCDCA6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338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-241">
            <a:extLst xmlns:a="http://schemas.openxmlformats.org/drawingml/2006/main">
              <a:ext uri="{FF2B5EF4-FFF2-40B4-BE49-F238E27FC236}">
                <a16:creationId xmlns:a16="http://schemas.microsoft.com/office/drawing/2014/main" id="{F744C7ED-920E-488C-AAB9-CC670594C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57625"/>
            <a:ext cx="320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01828"/>
                </a:solidFill>
                <a:latin typeface="Times New Roman"/>
                <a:ea typeface="Times New Roman"/>
                <a:cs typeface="Times New Roman"/>
              </a:rPr>
              <a:t>BCrypt cho mật khẩu</a:t>
            </a:r>
          </a:p>
        </p:txBody>
      </p:sp>
      <p:sp>
        <p:nvSpPr>
          <p:cNvPr id="11" name="box-242">
            <a:extLst xmlns:a="http://schemas.openxmlformats.org/drawingml/2006/main">
              <a:ext uri="{FF2B5EF4-FFF2-40B4-BE49-F238E27FC236}">
                <a16:creationId xmlns:a16="http://schemas.microsoft.com/office/drawing/2014/main" id="{6B2AF13E-D176-4F5B-AD72-24840C33B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482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-243">
            <a:extLst xmlns:a="http://schemas.openxmlformats.org/drawingml/2006/main">
              <a:ext uri="{FF2B5EF4-FFF2-40B4-BE49-F238E27FC236}">
                <a16:creationId xmlns:a16="http://schemas.microsoft.com/office/drawing/2014/main" id="{E0E47A96-2AE0-42C7-BAFD-ABD010CC8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72000"/>
            <a:ext cx="320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01828"/>
                </a:solidFill>
                <a:latin typeface="Times New Roman"/>
                <a:ea typeface="Times New Roman"/>
                <a:cs typeface="Times New Roman"/>
              </a:rPr>
              <a:t>Customer • Admin • Shipper</a:t>
            </a:r>
          </a:p>
        </p:txBody>
      </p:sp>
      <p:sp>
        <p:nvSpPr>
          <p:cNvPr id="13" name="line-244">
            <a:extLst xmlns:a="http://schemas.openxmlformats.org/drawingml/2006/main">
              <a:ext uri="{FF2B5EF4-FFF2-40B4-BE49-F238E27FC236}">
                <a16:creationId xmlns:a16="http://schemas.microsoft.com/office/drawing/2014/main" id="{04E3D44C-DD85-4C46-986A-A633B0B5C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019300"/>
            <a:ext cx="3524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18A56A"/>
            </a:solidFill>
            <a:prstDash val="solid"/>
          </a:ln>
        </p:spPr>
      </p:sp>
      <p:sp>
        <p:nvSpPr>
          <p:cNvPr id="14" name="text-245">
            <a:extLst xmlns:a="http://schemas.openxmlformats.org/drawingml/2006/main">
              <a:ext uri="{FF2B5EF4-FFF2-40B4-BE49-F238E27FC236}">
                <a16:creationId xmlns:a16="http://schemas.microsoft.com/office/drawing/2014/main" id="{B3004451-25CF-4626-9FAE-B625BCB63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400300"/>
            <a:ext cx="3524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18A56A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8A56A"/>
                </a:solidFill>
                <a:latin typeface="Times New Roman"/>
                <a:ea typeface="Times New Roman"/>
                <a:cs typeface="Times New Roman"/>
              </a:rPr>
              <a:t>TOÀN VẸN GIAO DỊCH</a:t>
            </a:r>
          </a:p>
        </p:txBody>
      </p:sp>
      <p:sp>
        <p:nvSpPr>
          <p:cNvPr id="15" name="box-246">
            <a:extLst xmlns:a="http://schemas.openxmlformats.org/drawingml/2006/main">
              <a:ext uri="{FF2B5EF4-FFF2-40B4-BE49-F238E27FC236}">
                <a16:creationId xmlns:a16="http://schemas.microsoft.com/office/drawing/2014/main" id="{5BEB13CB-3A9F-49F2-9D2C-A9B6010B7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2194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A5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xt-247">
            <a:extLst xmlns:a="http://schemas.openxmlformats.org/drawingml/2006/main">
              <a:ext uri="{FF2B5EF4-FFF2-40B4-BE49-F238E27FC236}">
                <a16:creationId xmlns:a16="http://schemas.microsoft.com/office/drawing/2014/main" id="{DD29B776-51D5-4278-8D44-6DC470DAD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143250"/>
            <a:ext cx="320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01828"/>
                </a:solidFill>
                <a:latin typeface="Times New Roman"/>
                <a:ea typeface="Times New Roman"/>
                <a:cs typeface="Times New Roman"/>
              </a:rPr>
              <a:t>Transaction khi tạo đơn</a:t>
            </a:r>
          </a:p>
        </p:txBody>
      </p:sp>
      <p:sp>
        <p:nvSpPr>
          <p:cNvPr id="17" name="box-248">
            <a:extLst xmlns:a="http://schemas.openxmlformats.org/drawingml/2006/main">
              <a:ext uri="{FF2B5EF4-FFF2-40B4-BE49-F238E27FC236}">
                <a16:creationId xmlns:a16="http://schemas.microsoft.com/office/drawing/2014/main" id="{BA9970F6-34B0-4541-9B10-66D7EBAC6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9338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A5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-249">
            <a:extLst xmlns:a="http://schemas.openxmlformats.org/drawingml/2006/main">
              <a:ext uri="{FF2B5EF4-FFF2-40B4-BE49-F238E27FC236}">
                <a16:creationId xmlns:a16="http://schemas.microsoft.com/office/drawing/2014/main" id="{D928E8CF-E3BC-4C38-8C26-07A8BB27F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857625"/>
            <a:ext cx="320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01828"/>
                </a:solidFill>
                <a:latin typeface="Times New Roman"/>
                <a:ea typeface="Times New Roman"/>
                <a:cs typeface="Times New Roman"/>
              </a:rPr>
              <a:t>Xác minh chữ ký VNPay</a:t>
            </a:r>
          </a:p>
        </p:txBody>
      </p:sp>
      <p:sp>
        <p:nvSpPr>
          <p:cNvPr id="19" name="box-250">
            <a:extLst xmlns:a="http://schemas.openxmlformats.org/drawingml/2006/main">
              <a:ext uri="{FF2B5EF4-FFF2-40B4-BE49-F238E27FC236}">
                <a16:creationId xmlns:a16="http://schemas.microsoft.com/office/drawing/2014/main" id="{C284492F-7A99-4AE7-844A-4D9BFD28D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482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A5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text-251">
            <a:extLst xmlns:a="http://schemas.openxmlformats.org/drawingml/2006/main">
              <a:ext uri="{FF2B5EF4-FFF2-40B4-BE49-F238E27FC236}">
                <a16:creationId xmlns:a16="http://schemas.microsoft.com/office/drawing/2014/main" id="{BFE209C1-DDB3-4080-8186-FB46447E3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572000"/>
            <a:ext cx="320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01828"/>
                </a:solidFill>
                <a:latin typeface="Times New Roman"/>
                <a:ea typeface="Times New Roman"/>
                <a:cs typeface="Times New Roman"/>
              </a:rPr>
              <a:t>Kiểm tra quyền sở hữu dữ liệu</a:t>
            </a:r>
          </a:p>
        </p:txBody>
      </p:sp>
      <p:sp>
        <p:nvSpPr>
          <p:cNvPr id="21" name="line-252">
            <a:extLst xmlns:a="http://schemas.openxmlformats.org/drawingml/2006/main">
              <a:ext uri="{FF2B5EF4-FFF2-40B4-BE49-F238E27FC236}">
                <a16:creationId xmlns:a16="http://schemas.microsoft.com/office/drawing/2014/main" id="{B7861065-BEDF-4A5A-8E12-29FAE87EC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019300"/>
            <a:ext cx="3524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E99B2E"/>
            </a:solidFill>
            <a:prstDash val="solid"/>
          </a:ln>
        </p:spPr>
      </p:sp>
      <p:sp>
        <p:nvSpPr>
          <p:cNvPr id="22" name="text-253">
            <a:extLst xmlns:a="http://schemas.openxmlformats.org/drawingml/2006/main">
              <a:ext uri="{FF2B5EF4-FFF2-40B4-BE49-F238E27FC236}">
                <a16:creationId xmlns:a16="http://schemas.microsoft.com/office/drawing/2014/main" id="{9645A59D-935B-419A-80CA-1D47B9B0C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400300"/>
            <a:ext cx="3524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E99B2E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E99B2E"/>
                </a:solidFill>
                <a:latin typeface="Times New Roman"/>
                <a:ea typeface="Times New Roman"/>
                <a:cs typeface="Times New Roman"/>
              </a:rPr>
              <a:t>AI &amp; HIỆU NĂNG</a:t>
            </a:r>
          </a:p>
        </p:txBody>
      </p:sp>
      <p:sp>
        <p:nvSpPr>
          <p:cNvPr id="23" name="box-254">
            <a:extLst xmlns:a="http://schemas.openxmlformats.org/drawingml/2006/main">
              <a:ext uri="{FF2B5EF4-FFF2-40B4-BE49-F238E27FC236}">
                <a16:creationId xmlns:a16="http://schemas.microsoft.com/office/drawing/2014/main" id="{636118DE-8724-4BAE-8537-35680B5A5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2194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9B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-255">
            <a:extLst xmlns:a="http://schemas.openxmlformats.org/drawingml/2006/main">
              <a:ext uri="{FF2B5EF4-FFF2-40B4-BE49-F238E27FC236}">
                <a16:creationId xmlns:a16="http://schemas.microsoft.com/office/drawing/2014/main" id="{2DDB2A1E-228C-4E7A-B345-BEBED7E18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143250"/>
            <a:ext cx="320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01828"/>
                </a:solidFill>
                <a:latin typeface="Times New Roman"/>
                <a:ea typeface="Times New Roman"/>
                <a:cs typeface="Times New Roman"/>
              </a:rPr>
              <a:t>Access token cho thiết kế ẩn danh</a:t>
            </a:r>
          </a:p>
        </p:txBody>
      </p:sp>
      <p:sp>
        <p:nvSpPr>
          <p:cNvPr id="25" name="box-256">
            <a:extLst xmlns:a="http://schemas.openxmlformats.org/drawingml/2006/main">
              <a:ext uri="{FF2B5EF4-FFF2-40B4-BE49-F238E27FC236}">
                <a16:creationId xmlns:a16="http://schemas.microsoft.com/office/drawing/2014/main" id="{7F7A8913-60A2-4240-9C9C-8323CF86B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9338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9B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text-257">
            <a:extLst xmlns:a="http://schemas.openxmlformats.org/drawingml/2006/main">
              <a:ext uri="{FF2B5EF4-FFF2-40B4-BE49-F238E27FC236}">
                <a16:creationId xmlns:a16="http://schemas.microsoft.com/office/drawing/2014/main" id="{A3D37680-3E9D-46D0-BE0F-878689B48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857625"/>
            <a:ext cx="320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01828"/>
                </a:solidFill>
                <a:latin typeface="Times New Roman"/>
                <a:ea typeface="Times New Roman"/>
                <a:cs typeface="Times New Roman"/>
              </a:rPr>
              <a:t>ETag + Cache-Control</a:t>
            </a:r>
          </a:p>
        </p:txBody>
      </p:sp>
      <p:sp>
        <p:nvSpPr>
          <p:cNvPr id="27" name="box-258">
            <a:extLst xmlns:a="http://schemas.openxmlformats.org/drawingml/2006/main">
              <a:ext uri="{FF2B5EF4-FFF2-40B4-BE49-F238E27FC236}">
                <a16:creationId xmlns:a16="http://schemas.microsoft.com/office/drawing/2014/main" id="{0C9399DA-5ECF-447E-862A-89E4F3FD9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6482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9B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text-259">
            <a:extLst xmlns:a="http://schemas.openxmlformats.org/drawingml/2006/main">
              <a:ext uri="{FF2B5EF4-FFF2-40B4-BE49-F238E27FC236}">
                <a16:creationId xmlns:a16="http://schemas.microsoft.com/office/drawing/2014/main" id="{D63F0F1D-B332-4E12-8BF0-F86AB5EBC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572000"/>
            <a:ext cx="320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01828"/>
                </a:solidFill>
                <a:latin typeface="Times New Roman"/>
                <a:ea typeface="Times New Roman"/>
                <a:cs typeface="Times New Roman"/>
              </a:rPr>
              <a:t>Đổi OpenAI/Gemini bằng cấu hình</a:t>
            </a:r>
          </a:p>
        </p:txBody>
      </p:sp>
      <p:sp>
        <p:nvSpPr>
          <p:cNvPr id="29" name="box-260">
            <a:extLst xmlns:a="http://schemas.openxmlformats.org/drawingml/2006/main">
              <a:ext uri="{FF2B5EF4-FFF2-40B4-BE49-F238E27FC236}">
                <a16:creationId xmlns:a16="http://schemas.microsoft.com/office/drawing/2014/main" id="{A35CB69C-C0E9-4D46-A7E6-21F9C7446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05450"/>
            <a:ext cx="113919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text-261">
            <a:extLst xmlns:a="http://schemas.openxmlformats.org/drawingml/2006/main">
              <a:ext uri="{FF2B5EF4-FFF2-40B4-BE49-F238E27FC236}">
                <a16:creationId xmlns:a16="http://schemas.microsoft.com/office/drawing/2014/main" id="{EFE85D9B-CEB6-4737-BCE3-959099883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76900"/>
            <a:ext cx="1082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01828"/>
                </a:solidFill>
                <a:latin typeface="Times New Roman"/>
                <a:ea typeface="Times New Roman"/>
                <a:cs typeface="Times New Roman"/>
              </a:rPr>
              <a:t>Các khóa bí mật được giữ ở backend; Flutter chỉ nhận dữ liệu và URL kết quả cần thiết.</a:t>
            </a:r>
          </a:p>
        </p:txBody>
      </p:sp>
    </p:spTree>
    <p:extLst>
      <p:ext uri="{BB962C8B-B14F-4D97-AF65-F5344CB8AC3E}">
        <p14:creationId xmlns:p14="http://schemas.microsoft.com/office/powerpoint/2010/main" val="121308328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ext-262">
            <a:extLst xmlns:a="http://schemas.openxmlformats.org/drawingml/2006/main">
              <a:ext uri="{FF2B5EF4-FFF2-40B4-BE49-F238E27FC236}">
                <a16:creationId xmlns:a16="http://schemas.microsoft.com/office/drawing/2014/main" id="{7914A88F-8D32-4B3C-91F0-06C3AC86C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3D8DFF"/>
                </a:solidFill>
                <a:latin typeface="Times New Roman"/>
                <a:ea typeface="Times New Roman"/>
                <a:cs typeface="Times New Roman"/>
              </a:rPr>
              <a:t>BẢO VỆ KHÓA LUẬN</a:t>
            </a:r>
          </a:p>
        </p:txBody>
      </p:sp>
      <p:sp>
        <p:nvSpPr>
          <p:cNvPr id="2" name="text-263">
            <a:extLst xmlns:a="http://schemas.openxmlformats.org/drawingml/2006/main">
              <a:ext uri="{FF2B5EF4-FFF2-40B4-BE49-F238E27FC236}">
                <a16:creationId xmlns:a16="http://schemas.microsoft.com/office/drawing/2014/main" id="{F390D45A-8C75-47AD-9459-C26920066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0810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101828"/>
                </a:solidFill>
                <a:latin typeface="Times New Roman"/>
                <a:ea typeface="Times New Roman"/>
                <a:cs typeface="Times New Roman"/>
              </a:rPr>
              <a:t>Luồng chức năng khách hàng đã hoàn thiện</a:t>
            </a:r>
          </a:p>
        </p:txBody>
      </p:sp>
      <p:sp>
        <p:nvSpPr>
          <p:cNvPr id="3" name="line-264">
            <a:extLst xmlns:a="http://schemas.openxmlformats.org/drawingml/2006/main">
              <a:ext uri="{FF2B5EF4-FFF2-40B4-BE49-F238E27FC236}">
                <a16:creationId xmlns:a16="http://schemas.microsoft.com/office/drawing/2014/main" id="{E6980A70-934C-4F09-A280-2C4C4D385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113919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text-265">
            <a:extLst xmlns:a="http://schemas.openxmlformats.org/drawingml/2006/main">
              <a:ext uri="{FF2B5EF4-FFF2-40B4-BE49-F238E27FC236}">
                <a16:creationId xmlns:a16="http://schemas.microsoft.com/office/drawing/2014/main" id="{45C93BF1-2F93-476A-A4FC-4C61E9735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722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5B6472"/>
                </a:solidFill>
                <a:latin typeface="Times New Roman"/>
                <a:ea typeface="Times New Roman"/>
                <a:cs typeface="Times New Roman"/>
              </a:rPr>
              <a:t>14</a:t>
            </a:r>
          </a:p>
        </p:txBody>
      </p:sp>
      <p:sp>
        <p:nvSpPr>
          <p:cNvPr id="5" name="text-266">
            <a:extLst xmlns:a="http://schemas.openxmlformats.org/drawingml/2006/main">
              <a:ext uri="{FF2B5EF4-FFF2-40B4-BE49-F238E27FC236}">
                <a16:creationId xmlns:a16="http://schemas.microsoft.com/office/drawing/2014/main" id="{87FA1612-9121-4147-98FE-4B55F4749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101828"/>
                </a:solidFill>
                <a:latin typeface="Times New Roman"/>
                <a:ea typeface="Times New Roman"/>
                <a:cs typeface="Times New Roman"/>
              </a:rPr>
              <a:t>Sản phẩm và quyết định mua</a:t>
            </a:r>
          </a:p>
        </p:txBody>
      </p:sp>
      <p:sp>
        <p:nvSpPr>
          <p:cNvPr id="6" name="box-267">
            <a:extLst xmlns:a="http://schemas.openxmlformats.org/drawingml/2006/main">
              <a:ext uri="{FF2B5EF4-FFF2-40B4-BE49-F238E27FC236}">
                <a16:creationId xmlns:a16="http://schemas.microsoft.com/office/drawing/2014/main" id="{2A21DDF2-2CC2-4437-85DA-0520BAACB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574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-268">
            <a:extLst xmlns:a="http://schemas.openxmlformats.org/drawingml/2006/main">
              <a:ext uri="{FF2B5EF4-FFF2-40B4-BE49-F238E27FC236}">
                <a16:creationId xmlns:a16="http://schemas.microsoft.com/office/drawing/2014/main" id="{0AD28497-E29C-4129-ABFF-2F686C234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81250"/>
            <a:ext cx="3486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01828"/>
                </a:solidFill>
                <a:latin typeface="Times New Roman"/>
                <a:ea typeface="Times New Roman"/>
                <a:cs typeface="Times New Roman"/>
              </a:rPr>
              <a:t>Tìm kiếm, lọc và chọn biến thể</a:t>
            </a:r>
          </a:p>
        </p:txBody>
      </p:sp>
      <p:sp>
        <p:nvSpPr>
          <p:cNvPr id="8" name="box-269">
            <a:extLst xmlns:a="http://schemas.openxmlformats.org/drawingml/2006/main">
              <a:ext uri="{FF2B5EF4-FFF2-40B4-BE49-F238E27FC236}">
                <a16:creationId xmlns:a16="http://schemas.microsoft.com/office/drawing/2014/main" id="{41CED761-90A4-4CDA-86DF-A38B8C0B9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-270">
            <a:extLst xmlns:a="http://schemas.openxmlformats.org/drawingml/2006/main">
              <a:ext uri="{FF2B5EF4-FFF2-40B4-BE49-F238E27FC236}">
                <a16:creationId xmlns:a16="http://schemas.microsoft.com/office/drawing/2014/main" id="{8CE2F8A4-866E-427B-BC43-3262FB3BE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971800"/>
            <a:ext cx="3486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01828"/>
                </a:solidFill>
                <a:latin typeface="Times New Roman"/>
                <a:ea typeface="Times New Roman"/>
                <a:cs typeface="Times New Roman"/>
              </a:rPr>
              <a:t>Giỏ hàng, voucher, Mapbox và VNPay</a:t>
            </a:r>
          </a:p>
        </p:txBody>
      </p:sp>
      <p:sp>
        <p:nvSpPr>
          <p:cNvPr id="10" name="box-271">
            <a:extLst xmlns:a="http://schemas.openxmlformats.org/drawingml/2006/main">
              <a:ext uri="{FF2B5EF4-FFF2-40B4-BE49-F238E27FC236}">
                <a16:creationId xmlns:a16="http://schemas.microsoft.com/office/drawing/2014/main" id="{F879E14C-9D52-4649-8A1D-526D3683F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385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-272">
            <a:extLst xmlns:a="http://schemas.openxmlformats.org/drawingml/2006/main">
              <a:ext uri="{FF2B5EF4-FFF2-40B4-BE49-F238E27FC236}">
                <a16:creationId xmlns:a16="http://schemas.microsoft.com/office/drawing/2014/main" id="{6D6D748F-1479-456F-A0C8-0F44AC28E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562350"/>
            <a:ext cx="3486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01828"/>
                </a:solidFill>
                <a:latin typeface="Times New Roman"/>
                <a:ea typeface="Times New Roman"/>
                <a:cs typeface="Times New Roman"/>
              </a:rPr>
              <a:t>Lịch sử đơn, đánh giá và hỗ trợ</a:t>
            </a:r>
          </a:p>
        </p:txBody>
      </p:sp>
      <p:sp>
        <p:nvSpPr>
          <p:cNvPr id="12" name="text-273">
            <a:extLst xmlns:a="http://schemas.openxmlformats.org/drawingml/2006/main">
              <a:ext uri="{FF2B5EF4-FFF2-40B4-BE49-F238E27FC236}">
                <a16:creationId xmlns:a16="http://schemas.microsoft.com/office/drawing/2014/main" id="{BB6A16CB-A8CD-4444-A37D-CD0A73030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19625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3D8DFF"/>
                </a:solidFill>
                <a:latin typeface="Times New Roman"/>
                <a:ea typeface="Times New Roman"/>
                <a:cs typeface="Times New Roman"/>
              </a:rPr>
              <a:t>Tư vấn trong đúng ngữ cảnh</a:t>
            </a:r>
          </a:p>
        </p:txBody>
      </p:sp>
      <p:sp>
        <p:nvSpPr>
          <p:cNvPr id="13" name="text-274">
            <a:extLst xmlns:a="http://schemas.openxmlformats.org/drawingml/2006/main">
              <a:ext uri="{FF2B5EF4-FFF2-40B4-BE49-F238E27FC236}">
                <a16:creationId xmlns:a16="http://schemas.microsoft.com/office/drawing/2014/main" id="{75ED9951-8F01-412E-9284-D3F470FEC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95875"/>
            <a:ext cx="3714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B6472"/>
                </a:solidFill>
                <a:latin typeface="Times New Roman"/>
                <a:ea typeface="Times New Roman"/>
                <a:cs typeface="Times New Roman"/>
              </a:rPr>
              <a:t>Trợ lý AI đọc dữ liệu sản phẩm để trả lời về giá, đặc điểm, phối màu và bố trí không gian.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2b3bab57ba4ab8"/>
          <a:stretch xmlns:a="http://schemas.openxmlformats.org/drawingml/2006/main"/>
        </p:blipFill>
        <p:spPr>
          <a:xfrm xmlns:a="http://schemas.openxmlformats.org/drawingml/2006/main">
            <a:off x="5436534" y="1771650"/>
            <a:ext cx="5414682" cy="2743200"/>
          </a:xfrm>
          <a:prstGeom xmlns:a="http://schemas.openxmlformats.org/drawingml/2006/main" prst="roundRect">
            <a:avLst>
              <a:gd name="adj" fmla="val 4167"/>
            </a:avLst>
          </a:prstGeom>
        </p:spPr>
      </p:pic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403008118c4744"/>
          <a:stretch xmlns:a="http://schemas.openxmlformats.org/drawingml/2006/main"/>
        </p:blipFill>
        <p:spPr>
          <a:xfrm xmlns:a="http://schemas.openxmlformats.org/drawingml/2006/main">
            <a:off x="8457522" y="4714875"/>
            <a:ext cx="1372956" cy="1619250"/>
          </a:xfrm>
          <a:prstGeom xmlns:a="http://schemas.openxmlformats.org/drawingml/2006/main" prst="roundRect">
            <a:avLst>
              <a:gd name="adj" fmla="val 7059"/>
            </a:avLst>
          </a:prstGeom>
        </p:spPr>
      </p:pic>
    </p:spTree>
    <p:extLst>
      <p:ext uri="{BB962C8B-B14F-4D97-AF65-F5344CB8AC3E}">
        <p14:creationId xmlns:p14="http://schemas.microsoft.com/office/powerpoint/2010/main" val="86614429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-275">
            <a:extLst xmlns:a="http://schemas.openxmlformats.org/drawingml/2006/main">
              <a:ext uri="{FF2B5EF4-FFF2-40B4-BE49-F238E27FC236}">
                <a16:creationId xmlns:a16="http://schemas.microsoft.com/office/drawing/2014/main" id="{9C803A2A-2E83-48BB-8043-6B756C2F8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3D8DFF"/>
                </a:solidFill>
                <a:latin typeface="Times New Roman"/>
                <a:ea typeface="Times New Roman"/>
                <a:cs typeface="Times New Roman"/>
              </a:rPr>
              <a:t>BẢO VỆ KHÓA LUẬN</a:t>
            </a:r>
          </a:p>
        </p:txBody>
      </p:sp>
      <p:sp>
        <p:nvSpPr>
          <p:cNvPr id="2" name="text-276">
            <a:extLst xmlns:a="http://schemas.openxmlformats.org/drawingml/2006/main">
              <a:ext uri="{FF2B5EF4-FFF2-40B4-BE49-F238E27FC236}">
                <a16:creationId xmlns:a16="http://schemas.microsoft.com/office/drawing/2014/main" id="{F9613D2B-255D-471B-B970-F9B15D0D0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0810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101828"/>
                </a:solidFill>
                <a:latin typeface="Times New Roman"/>
                <a:ea typeface="Times New Roman"/>
                <a:cs typeface="Times New Roman"/>
              </a:rPr>
              <a:t>Admin và shipper khép kín vận hành sau đặt hàng</a:t>
            </a:r>
          </a:p>
        </p:txBody>
      </p:sp>
      <p:sp>
        <p:nvSpPr>
          <p:cNvPr id="3" name="line-277">
            <a:extLst xmlns:a="http://schemas.openxmlformats.org/drawingml/2006/main">
              <a:ext uri="{FF2B5EF4-FFF2-40B4-BE49-F238E27FC236}">
                <a16:creationId xmlns:a16="http://schemas.microsoft.com/office/drawing/2014/main" id="{A835C11E-0A82-4AFF-AC8F-D9222508B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113919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text-278">
            <a:extLst xmlns:a="http://schemas.openxmlformats.org/drawingml/2006/main">
              <a:ext uri="{FF2B5EF4-FFF2-40B4-BE49-F238E27FC236}">
                <a16:creationId xmlns:a16="http://schemas.microsoft.com/office/drawing/2014/main" id="{B7A4D3F8-E7FF-40F9-A87B-599216BF6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722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5B6472"/>
                </a:solidFill>
                <a:latin typeface="Times New Roman"/>
                <a:ea typeface="Times New Roman"/>
                <a:cs typeface="Times New Roman"/>
              </a:rPr>
              <a:t>15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3bd0e723384f3b"/>
          <a:stretch xmlns:a="http://schemas.openxmlformats.org/drawingml/2006/main"/>
        </p:blipFill>
        <p:spPr>
          <a:xfrm xmlns:a="http://schemas.openxmlformats.org/drawingml/2006/main">
            <a:off x="400050" y="2467455"/>
            <a:ext cx="3524250" cy="1599239"/>
          </a:xfrm>
          <a:prstGeom xmlns:a="http://schemas.openxmlformats.org/drawingml/2006/main" prst="roundRect">
            <a:avLst>
              <a:gd name="adj" fmla="val 4380"/>
            </a:avLst>
          </a:prstGeom>
        </p:spPr>
      </p:pic>
      <p:sp>
        <p:nvSpPr>
          <p:cNvPr id="6" name="text-279">
            <a:extLst xmlns:a="http://schemas.openxmlformats.org/drawingml/2006/main">
              <a:ext uri="{FF2B5EF4-FFF2-40B4-BE49-F238E27FC236}">
                <a16:creationId xmlns:a16="http://schemas.microsoft.com/office/drawing/2014/main" id="{99E493C6-F30C-4420-A8AC-EE874D7F0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95850"/>
            <a:ext cx="352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101828"/>
                </a:solidFill>
                <a:latin typeface="Times New Roman"/>
                <a:ea typeface="Times New Roman"/>
                <a:cs typeface="Times New Roman"/>
              </a:rPr>
              <a:t>Admin</a:t>
            </a:r>
          </a:p>
        </p:txBody>
      </p:sp>
      <p:sp>
        <p:nvSpPr>
          <p:cNvPr id="7" name="text-280">
            <a:extLst xmlns:a="http://schemas.openxmlformats.org/drawingml/2006/main">
              <a:ext uri="{FF2B5EF4-FFF2-40B4-BE49-F238E27FC236}">
                <a16:creationId xmlns:a16="http://schemas.microsoft.com/office/drawing/2014/main" id="{6800EF57-ED4F-49D2-9DA3-35BABF69B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34000"/>
            <a:ext cx="3524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B6472"/>
                </a:solidFill>
                <a:latin typeface="Times New Roman"/>
                <a:ea typeface="Times New Roman"/>
                <a:cs typeface="Times New Roman"/>
              </a:rPr>
              <a:t>Theo dõi tổng quan và đơn hàng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a29a742ade4cfb"/>
          <a:stretch xmlns:a="http://schemas.openxmlformats.org/drawingml/2006/main"/>
        </p:blipFill>
        <p:spPr>
          <a:xfrm xmlns:a="http://schemas.openxmlformats.org/drawingml/2006/main">
            <a:off x="4305300" y="2467549"/>
            <a:ext cx="3524250" cy="1599052"/>
          </a:xfrm>
          <a:prstGeom xmlns:a="http://schemas.openxmlformats.org/drawingml/2006/main" prst="roundRect">
            <a:avLst>
              <a:gd name="adj" fmla="val 4380"/>
            </a:avLst>
          </a:prstGeom>
        </p:spPr>
      </p:pic>
      <p:sp>
        <p:nvSpPr>
          <p:cNvPr id="9" name="text-281">
            <a:extLst xmlns:a="http://schemas.openxmlformats.org/drawingml/2006/main">
              <a:ext uri="{FF2B5EF4-FFF2-40B4-BE49-F238E27FC236}">
                <a16:creationId xmlns:a16="http://schemas.microsoft.com/office/drawing/2014/main" id="{05F09C58-C4BE-4593-BE38-9A1B0C47A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895850"/>
            <a:ext cx="352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3D8DFF"/>
                </a:solidFill>
                <a:latin typeface="Times New Roman"/>
                <a:ea typeface="Times New Roman"/>
                <a:cs typeface="Times New Roman"/>
              </a:rPr>
              <a:t>Điều phối</a:t>
            </a:r>
          </a:p>
        </p:txBody>
      </p:sp>
      <p:sp>
        <p:nvSpPr>
          <p:cNvPr id="10" name="text-282">
            <a:extLst xmlns:a="http://schemas.openxmlformats.org/drawingml/2006/main">
              <a:ext uri="{FF2B5EF4-FFF2-40B4-BE49-F238E27FC236}">
                <a16:creationId xmlns:a16="http://schemas.microsoft.com/office/drawing/2014/main" id="{18BA9E57-1DC2-4798-8583-36CC3FEA9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5334000"/>
            <a:ext cx="3524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B6472"/>
                </a:solidFill>
                <a:latin typeface="Times New Roman"/>
                <a:ea typeface="Times New Roman"/>
                <a:cs typeface="Times New Roman"/>
              </a:rPr>
              <a:t>Phân ca, theo dõi tải và xử lý sự cố</a:t>
            </a:r>
          </a:p>
        </p:txBody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859480a5bb4a2a"/>
          <a:stretch xmlns:a="http://schemas.openxmlformats.org/drawingml/2006/main"/>
        </p:blipFill>
        <p:spPr>
          <a:xfrm xmlns:a="http://schemas.openxmlformats.org/drawingml/2006/main">
            <a:off x="8210550" y="2473517"/>
            <a:ext cx="3524250" cy="1587116"/>
          </a:xfrm>
          <a:prstGeom xmlns:a="http://schemas.openxmlformats.org/drawingml/2006/main" prst="roundRect">
            <a:avLst>
              <a:gd name="adj" fmla="val 4380"/>
            </a:avLst>
          </a:prstGeom>
        </p:spPr>
      </p:pic>
      <p:sp>
        <p:nvSpPr>
          <p:cNvPr id="12" name="text-283">
            <a:extLst xmlns:a="http://schemas.openxmlformats.org/drawingml/2006/main">
              <a:ext uri="{FF2B5EF4-FFF2-40B4-BE49-F238E27FC236}">
                <a16:creationId xmlns:a16="http://schemas.microsoft.com/office/drawing/2014/main" id="{F1CE505D-9DC7-482F-A88E-FBCCB8D3A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895850"/>
            <a:ext cx="352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101828"/>
                </a:solidFill>
                <a:latin typeface="Times New Roman"/>
                <a:ea typeface="Times New Roman"/>
                <a:cs typeface="Times New Roman"/>
              </a:rPr>
              <a:t>Shipper</a:t>
            </a:r>
          </a:p>
        </p:txBody>
      </p:sp>
      <p:sp>
        <p:nvSpPr>
          <p:cNvPr id="13" name="text-284">
            <a:extLst xmlns:a="http://schemas.openxmlformats.org/drawingml/2006/main">
              <a:ext uri="{FF2B5EF4-FFF2-40B4-BE49-F238E27FC236}">
                <a16:creationId xmlns:a16="http://schemas.microsoft.com/office/drawing/2014/main" id="{F06E9C4D-6F56-4547-B73A-0102778E9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5334000"/>
            <a:ext cx="3524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B6472"/>
                </a:solidFill>
                <a:latin typeface="Times New Roman"/>
                <a:ea typeface="Times New Roman"/>
                <a:cs typeface="Times New Roman"/>
              </a:rPr>
              <a:t>Nhận đơn, cập nhật trạng thái và bằng chứng</a:t>
            </a:r>
          </a:p>
        </p:txBody>
      </p:sp>
    </p:spTree>
    <p:extLst>
      <p:ext uri="{BB962C8B-B14F-4D97-AF65-F5344CB8AC3E}">
        <p14:creationId xmlns:p14="http://schemas.microsoft.com/office/powerpoint/2010/main" val="33939734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text-285">
            <a:extLst xmlns:a="http://schemas.openxmlformats.org/drawingml/2006/main">
              <a:ext uri="{FF2B5EF4-FFF2-40B4-BE49-F238E27FC236}">
                <a16:creationId xmlns:a16="http://schemas.microsoft.com/office/drawing/2014/main" id="{57635DD4-2675-4730-BB72-7FB09B0DA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3D8DFF"/>
                </a:solidFill>
                <a:latin typeface="Times New Roman"/>
                <a:ea typeface="Times New Roman"/>
                <a:cs typeface="Times New Roman"/>
              </a:rPr>
              <a:t>BẢO VỆ KHÓA LUẬN</a:t>
            </a:r>
          </a:p>
        </p:txBody>
      </p:sp>
      <p:sp>
        <p:nvSpPr>
          <p:cNvPr id="2" name="text-286">
            <a:extLst xmlns:a="http://schemas.openxmlformats.org/drawingml/2006/main">
              <a:ext uri="{FF2B5EF4-FFF2-40B4-BE49-F238E27FC236}">
                <a16:creationId xmlns:a16="http://schemas.microsoft.com/office/drawing/2014/main" id="{EEFEDEFD-EBBF-40E2-B55C-6970B27EA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0810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101828"/>
                </a:solidFill>
                <a:latin typeface="Times New Roman"/>
                <a:ea typeface="Times New Roman"/>
                <a:cs typeface="Times New Roman"/>
              </a:rPr>
              <a:t>Kết quả triển khai đã được kiểm chứng</a:t>
            </a:r>
          </a:p>
        </p:txBody>
      </p:sp>
      <p:sp>
        <p:nvSpPr>
          <p:cNvPr id="3" name="line-287">
            <a:extLst xmlns:a="http://schemas.openxmlformats.org/drawingml/2006/main">
              <a:ext uri="{FF2B5EF4-FFF2-40B4-BE49-F238E27FC236}">
                <a16:creationId xmlns:a16="http://schemas.microsoft.com/office/drawing/2014/main" id="{D3B0C8EC-3E04-44DB-AA0F-D9431D929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113919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text-288">
            <a:extLst xmlns:a="http://schemas.openxmlformats.org/drawingml/2006/main">
              <a:ext uri="{FF2B5EF4-FFF2-40B4-BE49-F238E27FC236}">
                <a16:creationId xmlns:a16="http://schemas.microsoft.com/office/drawing/2014/main" id="{1239F11B-5211-4DB7-8B5A-F56A28E4C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722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5B6472"/>
                </a:solidFill>
                <a:latin typeface="Times New Roman"/>
                <a:ea typeface="Times New Roman"/>
                <a:cs typeface="Times New Roman"/>
              </a:rPr>
              <a:t>16</a:t>
            </a:r>
          </a:p>
        </p:txBody>
      </p:sp>
      <p:sp>
        <p:nvSpPr>
          <p:cNvPr id="5" name="line-289">
            <a:extLst xmlns:a="http://schemas.openxmlformats.org/drawingml/2006/main">
              <a:ext uri="{FF2B5EF4-FFF2-40B4-BE49-F238E27FC236}">
                <a16:creationId xmlns:a16="http://schemas.microsoft.com/office/drawing/2014/main" id="{AFD084ED-C2C2-49DC-B9E3-138915B83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57400"/>
            <a:ext cx="2381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3D8DFF"/>
            </a:solidFill>
            <a:prstDash val="solid"/>
          </a:ln>
        </p:spPr>
      </p:sp>
      <p:sp>
        <p:nvSpPr>
          <p:cNvPr id="6" name="text-290">
            <a:extLst xmlns:a="http://schemas.openxmlformats.org/drawingml/2006/main">
              <a:ext uri="{FF2B5EF4-FFF2-40B4-BE49-F238E27FC236}">
                <a16:creationId xmlns:a16="http://schemas.microsoft.com/office/drawing/2014/main" id="{1EF8A91E-3063-4D71-8917-479EFDF53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28850"/>
            <a:ext cx="238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750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3900" b="1" i="0">
                <a:solidFill>
                  <a:srgbClr val="101828"/>
                </a:solidFill>
                <a:latin typeface="Times New Roman"/>
                <a:ea typeface="Times New Roman"/>
                <a:cs typeface="Times New Roman"/>
              </a:rPr>
              <a:t>19</a:t>
            </a:r>
          </a:p>
        </p:txBody>
      </p:sp>
      <p:sp>
        <p:nvSpPr>
          <p:cNvPr id="7" name="text-291">
            <a:extLst xmlns:a="http://schemas.openxmlformats.org/drawingml/2006/main">
              <a:ext uri="{FF2B5EF4-FFF2-40B4-BE49-F238E27FC236}">
                <a16:creationId xmlns:a16="http://schemas.microsoft.com/office/drawing/2014/main" id="{04EAD124-E08D-4EF6-AC11-EED3F6ECE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0"/>
            <a:ext cx="238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B6472"/>
                </a:solidFill>
                <a:latin typeface="Times New Roman"/>
                <a:ea typeface="Times New Roman"/>
                <a:cs typeface="Times New Roman"/>
              </a:rPr>
              <a:t>controller backend</a:t>
            </a:r>
          </a:p>
        </p:txBody>
      </p:sp>
      <p:sp>
        <p:nvSpPr>
          <p:cNvPr id="8" name="line-292">
            <a:extLst xmlns:a="http://schemas.openxmlformats.org/drawingml/2006/main">
              <a:ext uri="{FF2B5EF4-FFF2-40B4-BE49-F238E27FC236}">
                <a16:creationId xmlns:a16="http://schemas.microsoft.com/office/drawing/2014/main" id="{474A2258-1A44-4DE0-8734-5FDAB7F45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057400"/>
            <a:ext cx="2381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18A56A"/>
            </a:solidFill>
            <a:prstDash val="solid"/>
          </a:ln>
        </p:spPr>
      </p:sp>
      <p:sp>
        <p:nvSpPr>
          <p:cNvPr id="9" name="text-293">
            <a:extLst xmlns:a="http://schemas.openxmlformats.org/drawingml/2006/main">
              <a:ext uri="{FF2B5EF4-FFF2-40B4-BE49-F238E27FC236}">
                <a16:creationId xmlns:a16="http://schemas.microsoft.com/office/drawing/2014/main" id="{B861D592-BEBA-429D-BB57-A28D1543D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228850"/>
            <a:ext cx="238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750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3900" b="1" i="0">
                <a:solidFill>
                  <a:srgbClr val="101828"/>
                </a:solidFill>
                <a:latin typeface="Times New Roman"/>
                <a:ea typeface="Times New Roman"/>
                <a:cs typeface="Times New Roman"/>
              </a:rPr>
              <a:t>116</a:t>
            </a:r>
          </a:p>
        </p:txBody>
      </p:sp>
      <p:sp>
        <p:nvSpPr>
          <p:cNvPr id="10" name="text-294">
            <a:extLst xmlns:a="http://schemas.openxmlformats.org/drawingml/2006/main">
              <a:ext uri="{FF2B5EF4-FFF2-40B4-BE49-F238E27FC236}">
                <a16:creationId xmlns:a16="http://schemas.microsoft.com/office/drawing/2014/main" id="{F350D311-DBDF-41F5-9A90-AE562C6EE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857500"/>
            <a:ext cx="238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B6472"/>
                </a:solidFill>
                <a:latin typeface="Times New Roman"/>
                <a:ea typeface="Times New Roman"/>
                <a:cs typeface="Times New Roman"/>
              </a:rPr>
              <a:t>endpoint HTTP</a:t>
            </a:r>
          </a:p>
        </p:txBody>
      </p:sp>
      <p:sp>
        <p:nvSpPr>
          <p:cNvPr id="11" name="line-295">
            <a:extLst xmlns:a="http://schemas.openxmlformats.org/drawingml/2006/main">
              <a:ext uri="{FF2B5EF4-FFF2-40B4-BE49-F238E27FC236}">
                <a16:creationId xmlns:a16="http://schemas.microsoft.com/office/drawing/2014/main" id="{3EE30AA5-F9AC-41F8-AD30-F8224F25D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057400"/>
            <a:ext cx="2381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E99B2E"/>
            </a:solidFill>
            <a:prstDash val="solid"/>
          </a:ln>
        </p:spPr>
      </p:sp>
      <p:sp>
        <p:nvSpPr>
          <p:cNvPr id="12" name="text-296">
            <a:extLst xmlns:a="http://schemas.openxmlformats.org/drawingml/2006/main">
              <a:ext uri="{FF2B5EF4-FFF2-40B4-BE49-F238E27FC236}">
                <a16:creationId xmlns:a16="http://schemas.microsoft.com/office/drawing/2014/main" id="{3C8164D2-ED9D-4E5A-83B5-8F3757498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228850"/>
            <a:ext cx="238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750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3900" b="1" i="0">
                <a:solidFill>
                  <a:srgbClr val="101828"/>
                </a:solidFill>
                <a:latin typeface="Times New Roman"/>
                <a:ea typeface="Times New Roman"/>
                <a:cs typeface="Times New Roman"/>
              </a:rPr>
              <a:t>19</a:t>
            </a:r>
          </a:p>
        </p:txBody>
      </p:sp>
      <p:sp>
        <p:nvSpPr>
          <p:cNvPr id="13" name="text-297">
            <a:extLst xmlns:a="http://schemas.openxmlformats.org/drawingml/2006/main">
              <a:ext uri="{FF2B5EF4-FFF2-40B4-BE49-F238E27FC236}">
                <a16:creationId xmlns:a16="http://schemas.microsoft.com/office/drawing/2014/main" id="{60A1B38E-34C4-4521-BEAB-EC2A3636F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857500"/>
            <a:ext cx="238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B6472"/>
                </a:solidFill>
                <a:latin typeface="Times New Roman"/>
                <a:ea typeface="Times New Roman"/>
                <a:cs typeface="Times New Roman"/>
              </a:rPr>
              <a:t>thực thể dữ liệu</a:t>
            </a:r>
          </a:p>
        </p:txBody>
      </p:sp>
      <p:sp>
        <p:nvSpPr>
          <p:cNvPr id="14" name="line-298">
            <a:extLst xmlns:a="http://schemas.openxmlformats.org/drawingml/2006/main">
              <a:ext uri="{FF2B5EF4-FFF2-40B4-BE49-F238E27FC236}">
                <a16:creationId xmlns:a16="http://schemas.microsoft.com/office/drawing/2014/main" id="{D130E49B-3128-4F56-AFF9-2E45A09A4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057400"/>
            <a:ext cx="2381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3D8DFF"/>
            </a:solidFill>
            <a:prstDash val="solid"/>
          </a:ln>
        </p:spPr>
      </p:sp>
      <p:sp>
        <p:nvSpPr>
          <p:cNvPr id="15" name="text-299">
            <a:extLst xmlns:a="http://schemas.openxmlformats.org/drawingml/2006/main">
              <a:ext uri="{FF2B5EF4-FFF2-40B4-BE49-F238E27FC236}">
                <a16:creationId xmlns:a16="http://schemas.microsoft.com/office/drawing/2014/main" id="{EE4167F6-B103-4C66-B93C-D89FCA499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228850"/>
            <a:ext cx="238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750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3900" b="1" i="0">
                <a:solidFill>
                  <a:srgbClr val="101828"/>
                </a:solidFill>
                <a:latin typeface="Times New Roman"/>
                <a:ea typeface="Times New Roman"/>
                <a:cs typeface="Times New Roman"/>
              </a:rPr>
              <a:t>44</a:t>
            </a:r>
          </a:p>
        </p:txBody>
      </p:sp>
      <p:sp>
        <p:nvSpPr>
          <p:cNvPr id="16" name="text-300">
            <a:extLst xmlns:a="http://schemas.openxmlformats.org/drawingml/2006/main">
              <a:ext uri="{FF2B5EF4-FFF2-40B4-BE49-F238E27FC236}">
                <a16:creationId xmlns:a16="http://schemas.microsoft.com/office/drawing/2014/main" id="{AD980692-8CAE-4045-8704-ACDC9D6D8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857500"/>
            <a:ext cx="238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B6472"/>
                </a:solidFill>
                <a:latin typeface="Times New Roman"/>
                <a:ea typeface="Times New Roman"/>
                <a:cs typeface="Times New Roman"/>
              </a:rPr>
              <a:t>kiểm thử tự động đã đạt</a:t>
            </a:r>
          </a:p>
        </p:txBody>
      </p:sp>
      <p:sp>
        <p:nvSpPr>
          <p:cNvPr id="17" name="line-301">
            <a:extLst xmlns:a="http://schemas.openxmlformats.org/drawingml/2006/main">
              <a:ext uri="{FF2B5EF4-FFF2-40B4-BE49-F238E27FC236}">
                <a16:creationId xmlns:a16="http://schemas.microsoft.com/office/drawing/2014/main" id="{59A6CE49-F028-4177-B637-4C270371B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57650"/>
            <a:ext cx="113919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8" name="box-302">
            <a:extLst xmlns:a="http://schemas.openxmlformats.org/drawingml/2006/main">
              <a:ext uri="{FF2B5EF4-FFF2-40B4-BE49-F238E27FC236}">
                <a16:creationId xmlns:a16="http://schemas.microsoft.com/office/drawing/2014/main" id="{AA10F7E3-B11E-4360-B7E3-87BAE5BAB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52950"/>
            <a:ext cx="54292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ext-303">
            <a:extLst xmlns:a="http://schemas.openxmlformats.org/drawingml/2006/main">
              <a:ext uri="{FF2B5EF4-FFF2-40B4-BE49-F238E27FC236}">
                <a16:creationId xmlns:a16="http://schemas.microsoft.com/office/drawing/2014/main" id="{4C167ACA-060D-45F1-9023-B1A439971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0060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3D8DFF"/>
                </a:solidFill>
                <a:latin typeface="Times New Roman"/>
                <a:ea typeface="Times New Roman"/>
                <a:cs typeface="Times New Roman"/>
              </a:rPr>
              <a:t>Backend build</a:t>
            </a:r>
          </a:p>
        </p:txBody>
      </p:sp>
      <p:sp>
        <p:nvSpPr>
          <p:cNvPr id="20" name="text-304">
            <a:extLst xmlns:a="http://schemas.openxmlformats.org/drawingml/2006/main">
              <a:ext uri="{FF2B5EF4-FFF2-40B4-BE49-F238E27FC236}">
                <a16:creationId xmlns:a16="http://schemas.microsoft.com/office/drawing/2014/main" id="{BD6A7FFD-12DC-4790-A800-D7F105472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57800"/>
            <a:ext cx="466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101828"/>
                </a:solidFill>
                <a:latin typeface="Times New Roman"/>
                <a:ea typeface="Times New Roman"/>
                <a:cs typeface="Times New Roman"/>
              </a:rPr>
              <a:t>Thành công • 0 cảnh báo • 0 lỗi</a:t>
            </a:r>
          </a:p>
        </p:txBody>
      </p:sp>
      <p:sp>
        <p:nvSpPr>
          <p:cNvPr id="21" name="box-305">
            <a:extLst xmlns:a="http://schemas.openxmlformats.org/drawingml/2006/main">
              <a:ext uri="{FF2B5EF4-FFF2-40B4-BE49-F238E27FC236}">
                <a16:creationId xmlns:a16="http://schemas.microsoft.com/office/drawing/2014/main" id="{659865DE-8B6D-49FB-B265-2B6D528F7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552950"/>
            <a:ext cx="54292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ext-306">
            <a:extLst xmlns:a="http://schemas.openxmlformats.org/drawingml/2006/main">
              <a:ext uri="{FF2B5EF4-FFF2-40B4-BE49-F238E27FC236}">
                <a16:creationId xmlns:a16="http://schemas.microsoft.com/office/drawing/2014/main" id="{2C2335E9-0336-4600-978E-48E696596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80060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18A56A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8A56A"/>
                </a:solidFill>
                <a:latin typeface="Times New Roman"/>
                <a:ea typeface="Times New Roman"/>
                <a:cs typeface="Times New Roman"/>
              </a:rPr>
              <a:t>Kiểm thử</a:t>
            </a:r>
          </a:p>
        </p:txBody>
      </p:sp>
      <p:sp>
        <p:nvSpPr>
          <p:cNvPr id="23" name="text-307">
            <a:extLst xmlns:a="http://schemas.openxmlformats.org/drawingml/2006/main">
              <a:ext uri="{FF2B5EF4-FFF2-40B4-BE49-F238E27FC236}">
                <a16:creationId xmlns:a16="http://schemas.microsoft.com/office/drawing/2014/main" id="{D86493A2-C889-407C-8623-1A2D3396E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5257800"/>
            <a:ext cx="466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101828"/>
                </a:solidFill>
                <a:latin typeface="Times New Roman"/>
                <a:ea typeface="Times New Roman"/>
                <a:cs typeface="Times New Roman"/>
              </a:rPr>
              <a:t>40 Flutter + 4 xử lý ảnh AI</a:t>
            </a:r>
          </a:p>
        </p:txBody>
      </p:sp>
    </p:spTree>
    <p:extLst>
      <p:ext uri="{BB962C8B-B14F-4D97-AF65-F5344CB8AC3E}">
        <p14:creationId xmlns:p14="http://schemas.microsoft.com/office/powerpoint/2010/main" val="170615763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text-308">
            <a:extLst xmlns:a="http://schemas.openxmlformats.org/drawingml/2006/main">
              <a:ext uri="{FF2B5EF4-FFF2-40B4-BE49-F238E27FC236}">
                <a16:creationId xmlns:a16="http://schemas.microsoft.com/office/drawing/2014/main" id="{3C6A4E72-91D2-4C88-93A4-1FA6F1E67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3D8DFF"/>
                </a:solidFill>
                <a:latin typeface="Times New Roman"/>
                <a:ea typeface="Times New Roman"/>
                <a:cs typeface="Times New Roman"/>
              </a:rPr>
              <a:t>BẢO VỆ KHÓA LUẬN</a:t>
            </a:r>
          </a:p>
        </p:txBody>
      </p:sp>
      <p:sp>
        <p:nvSpPr>
          <p:cNvPr id="2" name="text-309">
            <a:extLst xmlns:a="http://schemas.openxmlformats.org/drawingml/2006/main">
              <a:ext uri="{FF2B5EF4-FFF2-40B4-BE49-F238E27FC236}">
                <a16:creationId xmlns:a16="http://schemas.microsoft.com/office/drawing/2014/main" id="{655FDDC0-9AB4-420D-98AF-0EA2BD372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0810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101828"/>
                </a:solidFill>
                <a:latin typeface="Times New Roman"/>
                <a:ea typeface="Times New Roman"/>
                <a:cs typeface="Times New Roman"/>
              </a:rPr>
              <a:t>Demo tập trung vào ba điểm tạo nên giá trị của hệ thống</a:t>
            </a:r>
          </a:p>
        </p:txBody>
      </p:sp>
      <p:sp>
        <p:nvSpPr>
          <p:cNvPr id="3" name="line-310">
            <a:extLst xmlns:a="http://schemas.openxmlformats.org/drawingml/2006/main">
              <a:ext uri="{FF2B5EF4-FFF2-40B4-BE49-F238E27FC236}">
                <a16:creationId xmlns:a16="http://schemas.microsoft.com/office/drawing/2014/main" id="{CB1A1FD5-A6A7-4986-9F80-194150B54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113919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text-311">
            <a:extLst xmlns:a="http://schemas.openxmlformats.org/drawingml/2006/main">
              <a:ext uri="{FF2B5EF4-FFF2-40B4-BE49-F238E27FC236}">
                <a16:creationId xmlns:a16="http://schemas.microsoft.com/office/drawing/2014/main" id="{9D2EB60F-8DE8-4507-87AC-8FFE9E6C1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722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5B6472"/>
                </a:solidFill>
                <a:latin typeface="Times New Roman"/>
                <a:ea typeface="Times New Roman"/>
                <a:cs typeface="Times New Roman"/>
              </a:rPr>
              <a:t>17</a:t>
            </a:r>
          </a:p>
        </p:txBody>
      </p:sp>
      <p:sp>
        <p:nvSpPr>
          <p:cNvPr id="5" name="line-312">
            <a:extLst xmlns:a="http://schemas.openxmlformats.org/drawingml/2006/main">
              <a:ext uri="{FF2B5EF4-FFF2-40B4-BE49-F238E27FC236}">
                <a16:creationId xmlns:a16="http://schemas.microsoft.com/office/drawing/2014/main" id="{A1A81C68-4FD3-4B98-BC07-C51B7FFA7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52800"/>
            <a:ext cx="101917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01828"/>
            </a:solidFill>
            <a:prstDash val="solid"/>
          </a:ln>
        </p:spPr>
      </p:sp>
      <p:sp>
        <p:nvSpPr>
          <p:cNvPr id="6" name="text-313">
            <a:extLst xmlns:a="http://schemas.openxmlformats.org/drawingml/2006/main">
              <a:ext uri="{FF2B5EF4-FFF2-40B4-BE49-F238E27FC236}">
                <a16:creationId xmlns:a16="http://schemas.microsoft.com/office/drawing/2014/main" id="{6BF2818E-F6B2-4C93-83CB-0B1F05873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336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3D8DFF"/>
                </a:solidFill>
                <a:latin typeface="Times New Roman"/>
                <a:ea typeface="Times New Roman"/>
                <a:cs typeface="Times New Roman"/>
              </a:rPr>
              <a:t>PHẦN 1</a:t>
            </a:r>
          </a:p>
        </p:txBody>
      </p:sp>
      <p:sp>
        <p:nvSpPr>
          <p:cNvPr id="7" name="box-314">
            <a:extLst xmlns:a="http://schemas.openxmlformats.org/drawingml/2006/main">
              <a:ext uri="{FF2B5EF4-FFF2-40B4-BE49-F238E27FC236}">
                <a16:creationId xmlns:a16="http://schemas.microsoft.com/office/drawing/2014/main" id="{B39C13FA-74A4-403C-B047-0A00B7AF6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2289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-315">
            <a:extLst xmlns:a="http://schemas.openxmlformats.org/drawingml/2006/main">
              <a:ext uri="{FF2B5EF4-FFF2-40B4-BE49-F238E27FC236}">
                <a16:creationId xmlns:a16="http://schemas.microsoft.com/office/drawing/2014/main" id="{54B35B93-8920-438C-9E90-E04AC2B6A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8620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01828"/>
                </a:solidFill>
                <a:latin typeface="Times New Roman"/>
                <a:ea typeface="Times New Roman"/>
                <a:cs typeface="Times New Roman"/>
              </a:rPr>
              <a:t>Khách hàng</a:t>
            </a:r>
          </a:p>
        </p:txBody>
      </p:sp>
      <p:sp>
        <p:nvSpPr>
          <p:cNvPr id="9" name="text-316">
            <a:extLst xmlns:a="http://schemas.openxmlformats.org/drawingml/2006/main">
              <a:ext uri="{FF2B5EF4-FFF2-40B4-BE49-F238E27FC236}">
                <a16:creationId xmlns:a16="http://schemas.microsoft.com/office/drawing/2014/main" id="{D2070926-9D30-46AC-8BA0-E06B664B4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76750"/>
            <a:ext cx="3143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5B6472"/>
                </a:solidFill>
                <a:latin typeface="Times New Roman"/>
                <a:ea typeface="Times New Roman"/>
                <a:cs typeface="Times New Roman"/>
              </a:rPr>
              <a:t>Tìm sản phẩm → xem thử trong phòng → thêm vào giỏ</a:t>
            </a:r>
          </a:p>
        </p:txBody>
      </p:sp>
      <p:sp>
        <p:nvSpPr>
          <p:cNvPr id="10" name="text-317">
            <a:extLst xmlns:a="http://schemas.openxmlformats.org/drawingml/2006/main">
              <a:ext uri="{FF2B5EF4-FFF2-40B4-BE49-F238E27FC236}">
                <a16:creationId xmlns:a16="http://schemas.microsoft.com/office/drawing/2014/main" id="{2384D0CA-CFD8-4E88-AC05-FF931CD71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5336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3D8DFF"/>
                </a:solidFill>
                <a:latin typeface="Times New Roman"/>
                <a:ea typeface="Times New Roman"/>
                <a:cs typeface="Times New Roman"/>
              </a:rPr>
              <a:t>PHẦN 2</a:t>
            </a:r>
          </a:p>
        </p:txBody>
      </p:sp>
      <p:sp>
        <p:nvSpPr>
          <p:cNvPr id="11" name="box-318">
            <a:extLst xmlns:a="http://schemas.openxmlformats.org/drawingml/2006/main">
              <a:ext uri="{FF2B5EF4-FFF2-40B4-BE49-F238E27FC236}">
                <a16:creationId xmlns:a16="http://schemas.microsoft.com/office/drawing/2014/main" id="{4B61F5B2-AF5E-48A7-BC66-D6FFA3C86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2289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-319">
            <a:extLst xmlns:a="http://schemas.openxmlformats.org/drawingml/2006/main">
              <a:ext uri="{FF2B5EF4-FFF2-40B4-BE49-F238E27FC236}">
                <a16:creationId xmlns:a16="http://schemas.microsoft.com/office/drawing/2014/main" id="{AE7D2171-3A8C-4E61-A02B-0156C82E9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88620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01828"/>
                </a:solidFill>
                <a:latin typeface="Times New Roman"/>
                <a:ea typeface="Times New Roman"/>
                <a:cs typeface="Times New Roman"/>
              </a:rPr>
              <a:t>Đặt hàng</a:t>
            </a:r>
          </a:p>
        </p:txBody>
      </p:sp>
      <p:sp>
        <p:nvSpPr>
          <p:cNvPr id="13" name="text-320">
            <a:extLst xmlns:a="http://schemas.openxmlformats.org/drawingml/2006/main">
              <a:ext uri="{FF2B5EF4-FFF2-40B4-BE49-F238E27FC236}">
                <a16:creationId xmlns:a16="http://schemas.microsoft.com/office/drawing/2014/main" id="{33AB4C76-C732-4AEE-9344-D0C81EB77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476750"/>
            <a:ext cx="3143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5B6472"/>
                </a:solidFill>
                <a:latin typeface="Times New Roman"/>
                <a:ea typeface="Times New Roman"/>
                <a:cs typeface="Times New Roman"/>
              </a:rPr>
              <a:t>Mapbox → voucher → thanh toán → trạng thái đơn</a:t>
            </a:r>
          </a:p>
        </p:txBody>
      </p:sp>
      <p:sp>
        <p:nvSpPr>
          <p:cNvPr id="14" name="text-321">
            <a:extLst xmlns:a="http://schemas.openxmlformats.org/drawingml/2006/main">
              <a:ext uri="{FF2B5EF4-FFF2-40B4-BE49-F238E27FC236}">
                <a16:creationId xmlns:a16="http://schemas.microsoft.com/office/drawing/2014/main" id="{AA575FD2-E1E8-48E9-B3DD-74AA17AD6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5336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3D8DFF"/>
                </a:solidFill>
                <a:latin typeface="Times New Roman"/>
                <a:ea typeface="Times New Roman"/>
                <a:cs typeface="Times New Roman"/>
              </a:rPr>
              <a:t>PHẦN 3</a:t>
            </a:r>
          </a:p>
        </p:txBody>
      </p:sp>
      <p:sp>
        <p:nvSpPr>
          <p:cNvPr id="15" name="box-322">
            <a:extLst xmlns:a="http://schemas.openxmlformats.org/drawingml/2006/main">
              <a:ext uri="{FF2B5EF4-FFF2-40B4-BE49-F238E27FC236}">
                <a16:creationId xmlns:a16="http://schemas.microsoft.com/office/drawing/2014/main" id="{F1DB6FD4-8E11-47D3-8812-D46D69D10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2289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xt-323">
            <a:extLst xmlns:a="http://schemas.openxmlformats.org/drawingml/2006/main">
              <a:ext uri="{FF2B5EF4-FFF2-40B4-BE49-F238E27FC236}">
                <a16:creationId xmlns:a16="http://schemas.microsoft.com/office/drawing/2014/main" id="{0D421E87-0BC6-48B7-AFBE-6F7EC1E64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88620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01828"/>
                </a:solidFill>
                <a:latin typeface="Times New Roman"/>
                <a:ea typeface="Times New Roman"/>
                <a:cs typeface="Times New Roman"/>
              </a:rPr>
              <a:t>Vận hành</a:t>
            </a:r>
          </a:p>
        </p:txBody>
      </p:sp>
      <p:sp>
        <p:nvSpPr>
          <p:cNvPr id="17" name="text-324">
            <a:extLst xmlns:a="http://schemas.openxmlformats.org/drawingml/2006/main">
              <a:ext uri="{FF2B5EF4-FFF2-40B4-BE49-F238E27FC236}">
                <a16:creationId xmlns:a16="http://schemas.microsoft.com/office/drawing/2014/main" id="{9BD578F9-6E22-4F5A-AD6A-DAF7E4098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476750"/>
            <a:ext cx="3143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5B6472"/>
                </a:solidFill>
                <a:latin typeface="Times New Roman"/>
                <a:ea typeface="Times New Roman"/>
                <a:cs typeface="Times New Roman"/>
              </a:rPr>
              <a:t>Admin phân công → shipper cập nhật → báo cáo sự cố</a:t>
            </a:r>
          </a:p>
        </p:txBody>
      </p:sp>
      <p:sp>
        <p:nvSpPr>
          <p:cNvPr id="18" name="box-325">
            <a:extLst xmlns:a="http://schemas.openxmlformats.org/drawingml/2006/main">
              <a:ext uri="{FF2B5EF4-FFF2-40B4-BE49-F238E27FC236}">
                <a16:creationId xmlns:a16="http://schemas.microsoft.com/office/drawing/2014/main" id="{661AE3C9-BFF6-4075-AC20-C189E8032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676900"/>
            <a:ext cx="80010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ext-326">
            <a:extLst xmlns:a="http://schemas.openxmlformats.org/drawingml/2006/main">
              <a:ext uri="{FF2B5EF4-FFF2-40B4-BE49-F238E27FC236}">
                <a16:creationId xmlns:a16="http://schemas.microsoft.com/office/drawing/2014/main" id="{240683E2-F25E-4135-A4C3-6DA60AB3A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5791200"/>
            <a:ext cx="752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3D8DFF"/>
                </a:solidFill>
                <a:latin typeface="Times New Roman"/>
                <a:ea typeface="Times New Roman"/>
                <a:cs typeface="Times New Roman"/>
              </a:rPr>
              <a:t>Kịch bản dự phòng: dùng ảnh giao diện trong các slide trước nếu môi trường demo mất kết nối dịch vụ ngoài.</a:t>
            </a:r>
          </a:p>
        </p:txBody>
      </p:sp>
    </p:spTree>
    <p:extLst>
      <p:ext uri="{BB962C8B-B14F-4D97-AF65-F5344CB8AC3E}">
        <p14:creationId xmlns:p14="http://schemas.microsoft.com/office/powerpoint/2010/main" val="1657339654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ext-327">
            <a:extLst xmlns:a="http://schemas.openxmlformats.org/drawingml/2006/main">
              <a:ext uri="{FF2B5EF4-FFF2-40B4-BE49-F238E27FC236}">
                <a16:creationId xmlns:a16="http://schemas.microsoft.com/office/drawing/2014/main" id="{6B5406F1-DE13-465A-BFCA-3430E6825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3D8DFF"/>
                </a:solidFill>
                <a:latin typeface="Times New Roman"/>
                <a:ea typeface="Times New Roman"/>
                <a:cs typeface="Times New Roman"/>
              </a:rPr>
              <a:t>BẢO VỆ KHÓA LUẬN</a:t>
            </a:r>
          </a:p>
        </p:txBody>
      </p:sp>
      <p:sp>
        <p:nvSpPr>
          <p:cNvPr id="2" name="text-328">
            <a:extLst xmlns:a="http://schemas.openxmlformats.org/drawingml/2006/main">
              <a:ext uri="{FF2B5EF4-FFF2-40B4-BE49-F238E27FC236}">
                <a16:creationId xmlns:a16="http://schemas.microsoft.com/office/drawing/2014/main" id="{FFF90284-0979-4536-AEC0-858D47075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0810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101828"/>
                </a:solidFill>
                <a:latin typeface="Times New Roman"/>
                <a:ea typeface="Times New Roman"/>
                <a:cs typeface="Times New Roman"/>
              </a:rPr>
              <a:t>Hạn chế hiện tại xác định rõ hướng nghiên cứu tiếp theo</a:t>
            </a:r>
          </a:p>
        </p:txBody>
      </p:sp>
      <p:sp>
        <p:nvSpPr>
          <p:cNvPr id="3" name="line-329">
            <a:extLst xmlns:a="http://schemas.openxmlformats.org/drawingml/2006/main">
              <a:ext uri="{FF2B5EF4-FFF2-40B4-BE49-F238E27FC236}">
                <a16:creationId xmlns:a16="http://schemas.microsoft.com/office/drawing/2014/main" id="{098AC36B-B014-4D01-A73D-0F9CC766C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113919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text-330">
            <a:extLst xmlns:a="http://schemas.openxmlformats.org/drawingml/2006/main">
              <a:ext uri="{FF2B5EF4-FFF2-40B4-BE49-F238E27FC236}">
                <a16:creationId xmlns:a16="http://schemas.microsoft.com/office/drawing/2014/main" id="{362B6987-D0EC-4534-9D65-0C25663EC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722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5B6472"/>
                </a:solidFill>
                <a:latin typeface="Times New Roman"/>
                <a:ea typeface="Times New Roman"/>
                <a:cs typeface="Times New Roman"/>
              </a:rPr>
              <a:t>18</a:t>
            </a:r>
          </a:p>
        </p:txBody>
      </p:sp>
      <p:sp>
        <p:nvSpPr>
          <p:cNvPr id="5" name="text-331">
            <a:extLst xmlns:a="http://schemas.openxmlformats.org/drawingml/2006/main">
              <a:ext uri="{FF2B5EF4-FFF2-40B4-BE49-F238E27FC236}">
                <a16:creationId xmlns:a16="http://schemas.microsoft.com/office/drawing/2014/main" id="{89F9E838-07D2-4976-BDD8-7DFDC8362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3524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3D8DFF"/>
                </a:solidFill>
                <a:latin typeface="Times New Roman"/>
                <a:ea typeface="Times New Roman"/>
                <a:cs typeface="Times New Roman"/>
              </a:rPr>
              <a:t>ĐỘ CHÍNH XÁC PHỐI CẢNH</a:t>
            </a:r>
          </a:p>
        </p:txBody>
      </p:sp>
      <p:sp>
        <p:nvSpPr>
          <p:cNvPr id="6" name="text-332">
            <a:extLst xmlns:a="http://schemas.openxmlformats.org/drawingml/2006/main">
              <a:ext uri="{FF2B5EF4-FFF2-40B4-BE49-F238E27FC236}">
                <a16:creationId xmlns:a16="http://schemas.microsoft.com/office/drawing/2014/main" id="{5C3F548A-E52E-449D-9282-5F0B519DE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9560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5B6472"/>
                </a:solidFill>
                <a:latin typeface="Times New Roman"/>
                <a:ea typeface="Times New Roman"/>
                <a:cs typeface="Times New Roman"/>
              </a:rPr>
              <a:t>Hiện tại</a:t>
            </a:r>
          </a:p>
        </p:txBody>
      </p:sp>
      <p:sp>
        <p:nvSpPr>
          <p:cNvPr id="7" name="text-333">
            <a:extLst xmlns:a="http://schemas.openxmlformats.org/drawingml/2006/main">
              <a:ext uri="{FF2B5EF4-FFF2-40B4-BE49-F238E27FC236}">
                <a16:creationId xmlns:a16="http://schemas.microsoft.com/office/drawing/2014/main" id="{FD61C5EC-C5A2-41B2-8B6C-98B3FC313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76600"/>
            <a:ext cx="35242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01828"/>
                </a:solidFill>
                <a:latin typeface="Times New Roman"/>
                <a:ea typeface="Times New Roman"/>
                <a:cs typeface="Times New Roman"/>
              </a:rPr>
              <a:t>Phụ thuộc góc chụp, ánh sáng và chưa bảo đảm tỷ lệ kích thước tuyệt đối.</a:t>
            </a:r>
          </a:p>
        </p:txBody>
      </p:sp>
      <p:sp>
        <p:nvSpPr>
          <p:cNvPr id="8" name="line-334">
            <a:extLst xmlns:a="http://schemas.openxmlformats.org/drawingml/2006/main">
              <a:ext uri="{FF2B5EF4-FFF2-40B4-BE49-F238E27FC236}">
                <a16:creationId xmlns:a16="http://schemas.microsoft.com/office/drawing/2014/main" id="{7FE6B988-EB19-4926-B435-FE9D847CC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76750"/>
            <a:ext cx="3524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text-335">
            <a:extLst xmlns:a="http://schemas.openxmlformats.org/drawingml/2006/main">
              <a:ext uri="{FF2B5EF4-FFF2-40B4-BE49-F238E27FC236}">
                <a16:creationId xmlns:a16="http://schemas.microsoft.com/office/drawing/2014/main" id="{BE132374-63E1-4034-8020-405DA46E9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1487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8A56A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8A56A"/>
                </a:solidFill>
                <a:latin typeface="Times New Roman"/>
                <a:ea typeface="Times New Roman"/>
                <a:cs typeface="Times New Roman"/>
              </a:rPr>
              <a:t>Bước tiếp theo</a:t>
            </a:r>
          </a:p>
        </p:txBody>
      </p:sp>
      <p:sp>
        <p:nvSpPr>
          <p:cNvPr id="10" name="text-336">
            <a:extLst xmlns:a="http://schemas.openxmlformats.org/drawingml/2006/main">
              <a:ext uri="{FF2B5EF4-FFF2-40B4-BE49-F238E27FC236}">
                <a16:creationId xmlns:a16="http://schemas.microsoft.com/office/drawing/2014/main" id="{EAF151A6-A5BF-4142-833D-2A13BBEA2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05400"/>
            <a:ext cx="3524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B6472"/>
                </a:solidFill>
                <a:latin typeface="Times New Roman"/>
                <a:ea typeface="Times New Roman"/>
                <a:cs typeface="Times New Roman"/>
              </a:rPr>
              <a:t>3D / AR, hiệu chuẩn camera và bộ dữ liệu kiểm thử đa dạng hơn.</a:t>
            </a:r>
          </a:p>
        </p:txBody>
      </p:sp>
      <p:sp>
        <p:nvSpPr>
          <p:cNvPr id="11" name="text-337">
            <a:extLst xmlns:a="http://schemas.openxmlformats.org/drawingml/2006/main">
              <a:ext uri="{FF2B5EF4-FFF2-40B4-BE49-F238E27FC236}">
                <a16:creationId xmlns:a16="http://schemas.microsoft.com/office/drawing/2014/main" id="{78B6F9AF-A7E0-4904-860E-4B48D41FF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000250"/>
            <a:ext cx="3524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3D8DFF"/>
                </a:solidFill>
                <a:latin typeface="Times New Roman"/>
                <a:ea typeface="Times New Roman"/>
                <a:cs typeface="Times New Roman"/>
              </a:rPr>
              <a:t>CÁ NHÂN HÓA GỢI Ý</a:t>
            </a:r>
          </a:p>
        </p:txBody>
      </p:sp>
      <p:sp>
        <p:nvSpPr>
          <p:cNvPr id="12" name="text-338">
            <a:extLst xmlns:a="http://schemas.openxmlformats.org/drawingml/2006/main">
              <a:ext uri="{FF2B5EF4-FFF2-40B4-BE49-F238E27FC236}">
                <a16:creationId xmlns:a16="http://schemas.microsoft.com/office/drawing/2014/main" id="{0E359C28-8D3A-4922-BC44-F32146DED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89560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5B6472"/>
                </a:solidFill>
                <a:latin typeface="Times New Roman"/>
                <a:ea typeface="Times New Roman"/>
                <a:cs typeface="Times New Roman"/>
              </a:rPr>
              <a:t>Hiện tại</a:t>
            </a:r>
          </a:p>
        </p:txBody>
      </p:sp>
      <p:sp>
        <p:nvSpPr>
          <p:cNvPr id="13" name="text-339">
            <a:extLst xmlns:a="http://schemas.openxmlformats.org/drawingml/2006/main">
              <a:ext uri="{FF2B5EF4-FFF2-40B4-BE49-F238E27FC236}">
                <a16:creationId xmlns:a16="http://schemas.microsoft.com/office/drawing/2014/main" id="{D9A002F5-048B-42EC-A03D-C0BF59B1E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276600"/>
            <a:ext cx="35242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01828"/>
                </a:solidFill>
                <a:latin typeface="Times New Roman"/>
                <a:ea typeface="Times New Roman"/>
                <a:cs typeface="Times New Roman"/>
              </a:rPr>
              <a:t>Apriori cần thêm lịch sử giao dịch; chưa có hồ sơ sở thích từng người dùng.</a:t>
            </a:r>
          </a:p>
        </p:txBody>
      </p:sp>
      <p:sp>
        <p:nvSpPr>
          <p:cNvPr id="14" name="line-340">
            <a:extLst xmlns:a="http://schemas.openxmlformats.org/drawingml/2006/main">
              <a:ext uri="{FF2B5EF4-FFF2-40B4-BE49-F238E27FC236}">
                <a16:creationId xmlns:a16="http://schemas.microsoft.com/office/drawing/2014/main" id="{228E6776-8669-4428-BE3B-0B511EC75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476750"/>
            <a:ext cx="3524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text-341">
            <a:extLst xmlns:a="http://schemas.openxmlformats.org/drawingml/2006/main">
              <a:ext uri="{FF2B5EF4-FFF2-40B4-BE49-F238E27FC236}">
                <a16:creationId xmlns:a16="http://schemas.microsoft.com/office/drawing/2014/main" id="{52C3262A-35A8-4D9B-8996-546810BD6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71487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8A56A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8A56A"/>
                </a:solidFill>
                <a:latin typeface="Times New Roman"/>
                <a:ea typeface="Times New Roman"/>
                <a:cs typeface="Times New Roman"/>
              </a:rPr>
              <a:t>Bước tiếp theo</a:t>
            </a:r>
          </a:p>
        </p:txBody>
      </p:sp>
      <p:sp>
        <p:nvSpPr>
          <p:cNvPr id="16" name="text-342">
            <a:extLst xmlns:a="http://schemas.openxmlformats.org/drawingml/2006/main">
              <a:ext uri="{FF2B5EF4-FFF2-40B4-BE49-F238E27FC236}">
                <a16:creationId xmlns:a16="http://schemas.microsoft.com/office/drawing/2014/main" id="{3C67EA76-A0F1-4517-977F-356A8E8E0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5105400"/>
            <a:ext cx="3524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B6472"/>
                </a:solidFill>
                <a:latin typeface="Times New Roman"/>
                <a:ea typeface="Times New Roman"/>
                <a:cs typeface="Times New Roman"/>
              </a:rPr>
              <a:t>Thu thập lượt xem, tìm kiếm, giỏ hàng; thử lọc cộng tác hoặc mô hình lai.</a:t>
            </a:r>
          </a:p>
        </p:txBody>
      </p:sp>
      <p:sp>
        <p:nvSpPr>
          <p:cNvPr id="17" name="text-343">
            <a:extLst xmlns:a="http://schemas.openxmlformats.org/drawingml/2006/main">
              <a:ext uri="{FF2B5EF4-FFF2-40B4-BE49-F238E27FC236}">
                <a16:creationId xmlns:a16="http://schemas.microsoft.com/office/drawing/2014/main" id="{D647E9F3-CD84-4306-AB8C-05C437F00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000250"/>
            <a:ext cx="3524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3D8DFF"/>
                </a:solidFill>
                <a:latin typeface="Times New Roman"/>
                <a:ea typeface="Times New Roman"/>
                <a:cs typeface="Times New Roman"/>
              </a:rPr>
              <a:t>SẴN SÀNG VẬN HÀNH LỚN</a:t>
            </a:r>
          </a:p>
        </p:txBody>
      </p:sp>
      <p:sp>
        <p:nvSpPr>
          <p:cNvPr id="18" name="text-344">
            <a:extLst xmlns:a="http://schemas.openxmlformats.org/drawingml/2006/main">
              <a:ext uri="{FF2B5EF4-FFF2-40B4-BE49-F238E27FC236}">
                <a16:creationId xmlns:a16="http://schemas.microsoft.com/office/drawing/2014/main" id="{6116BEB0-01EB-4E9C-9598-BC7D9F1FA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89560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5B6472"/>
                </a:solidFill>
                <a:latin typeface="Times New Roman"/>
                <a:ea typeface="Times New Roman"/>
                <a:cs typeface="Times New Roman"/>
              </a:rPr>
              <a:t>Hiện tại</a:t>
            </a:r>
          </a:p>
        </p:txBody>
      </p:sp>
      <p:sp>
        <p:nvSpPr>
          <p:cNvPr id="19" name="text-345">
            <a:extLst xmlns:a="http://schemas.openxmlformats.org/drawingml/2006/main">
              <a:ext uri="{FF2B5EF4-FFF2-40B4-BE49-F238E27FC236}">
                <a16:creationId xmlns:a16="http://schemas.microsoft.com/office/drawing/2014/main" id="{917E4C23-3C62-4C6D-9DFB-84EFA6B5F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276600"/>
            <a:ext cx="35242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01828"/>
                </a:solidFill>
                <a:latin typeface="Times New Roman"/>
                <a:ea typeface="Times New Roman"/>
                <a:cs typeface="Times New Roman"/>
              </a:rPr>
              <a:t>Phụ thuộc quota dịch vụ ngoài; chưa kiểm thử tải và bảo mật chuyên sâu.</a:t>
            </a:r>
          </a:p>
        </p:txBody>
      </p:sp>
      <p:sp>
        <p:nvSpPr>
          <p:cNvPr id="20" name="line-346">
            <a:extLst xmlns:a="http://schemas.openxmlformats.org/drawingml/2006/main">
              <a:ext uri="{FF2B5EF4-FFF2-40B4-BE49-F238E27FC236}">
                <a16:creationId xmlns:a16="http://schemas.microsoft.com/office/drawing/2014/main" id="{0FFA3031-EE13-4871-A860-325AF3398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476750"/>
            <a:ext cx="3524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1" name="text-347">
            <a:extLst xmlns:a="http://schemas.openxmlformats.org/drawingml/2006/main">
              <a:ext uri="{FF2B5EF4-FFF2-40B4-BE49-F238E27FC236}">
                <a16:creationId xmlns:a16="http://schemas.microsoft.com/office/drawing/2014/main" id="{2B775770-A1B9-4EA8-9929-A140C231B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71487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8A56A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8A56A"/>
                </a:solidFill>
                <a:latin typeface="Times New Roman"/>
                <a:ea typeface="Times New Roman"/>
                <a:cs typeface="Times New Roman"/>
              </a:rPr>
              <a:t>Bước tiếp theo</a:t>
            </a:r>
          </a:p>
        </p:txBody>
      </p:sp>
      <p:sp>
        <p:nvSpPr>
          <p:cNvPr id="22" name="text-348">
            <a:extLst xmlns:a="http://schemas.openxmlformats.org/drawingml/2006/main">
              <a:ext uri="{FF2B5EF4-FFF2-40B4-BE49-F238E27FC236}">
                <a16:creationId xmlns:a16="http://schemas.microsoft.com/office/drawing/2014/main" id="{37EE53E1-30B6-4206-A4A9-D3710E0AD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5105400"/>
            <a:ext cx="3524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B6472"/>
                </a:solidFill>
                <a:latin typeface="Times New Roman"/>
                <a:ea typeface="Times New Roman"/>
                <a:cs typeface="Times New Roman"/>
              </a:rPr>
              <a:t>Cloud, giám sát, retry, quản lý secret và tối ưu định tuyến giao hàng.</a:t>
            </a:r>
          </a:p>
        </p:txBody>
      </p:sp>
    </p:spTree>
    <p:extLst>
      <p:ext uri="{BB962C8B-B14F-4D97-AF65-F5344CB8AC3E}">
        <p14:creationId xmlns:p14="http://schemas.microsoft.com/office/powerpoint/2010/main" val="964181115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ext-349">
            <a:extLst xmlns:a="http://schemas.openxmlformats.org/drawingml/2006/main">
              <a:ext uri="{FF2B5EF4-FFF2-40B4-BE49-F238E27FC236}">
                <a16:creationId xmlns:a16="http://schemas.microsoft.com/office/drawing/2014/main" id="{9F6B36FF-E377-4E11-9BC6-EF4136BA6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3D8DFF"/>
                </a:solidFill>
                <a:latin typeface="Times New Roman"/>
                <a:ea typeface="Times New Roman"/>
                <a:cs typeface="Times New Roman"/>
              </a:rPr>
              <a:t>BẢO VỆ KHÓA LUẬN</a:t>
            </a:r>
          </a:p>
        </p:txBody>
      </p:sp>
      <p:sp>
        <p:nvSpPr>
          <p:cNvPr id="2" name="text-350">
            <a:extLst xmlns:a="http://schemas.openxmlformats.org/drawingml/2006/main">
              <a:ext uri="{FF2B5EF4-FFF2-40B4-BE49-F238E27FC236}">
                <a16:creationId xmlns:a16="http://schemas.microsoft.com/office/drawing/2014/main" id="{20D4DF74-BA2A-480B-88B9-1A105C745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0810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101828"/>
                </a:solidFill>
                <a:latin typeface="Times New Roman"/>
                <a:ea typeface="Times New Roman"/>
                <a:cs typeface="Times New Roman"/>
              </a:rPr>
              <a:t>AI được tích hợp vào quy trình bán lẻ hoàn chỉnh</a:t>
            </a:r>
          </a:p>
        </p:txBody>
      </p:sp>
      <p:sp>
        <p:nvSpPr>
          <p:cNvPr id="3" name="line-351">
            <a:extLst xmlns:a="http://schemas.openxmlformats.org/drawingml/2006/main">
              <a:ext uri="{FF2B5EF4-FFF2-40B4-BE49-F238E27FC236}">
                <a16:creationId xmlns:a16="http://schemas.microsoft.com/office/drawing/2014/main" id="{4040AFB9-8A81-4CBD-ABA4-A2DBBC9A4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113919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text-352">
            <a:extLst xmlns:a="http://schemas.openxmlformats.org/drawingml/2006/main">
              <a:ext uri="{FF2B5EF4-FFF2-40B4-BE49-F238E27FC236}">
                <a16:creationId xmlns:a16="http://schemas.microsoft.com/office/drawing/2014/main" id="{3921D40C-52F9-4203-9FE9-11E94F760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722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5B6472"/>
                </a:solidFill>
                <a:latin typeface="Times New Roman"/>
                <a:ea typeface="Times New Roman"/>
                <a:cs typeface="Times New Roman"/>
              </a:rPr>
              <a:t>19</a:t>
            </a:r>
          </a:p>
        </p:txBody>
      </p:sp>
      <p:sp>
        <p:nvSpPr>
          <p:cNvPr id="5" name="text-353">
            <a:extLst xmlns:a="http://schemas.openxmlformats.org/drawingml/2006/main">
              <a:ext uri="{FF2B5EF4-FFF2-40B4-BE49-F238E27FC236}">
                <a16:creationId xmlns:a16="http://schemas.microsoft.com/office/drawing/2014/main" id="{73AD46B1-F3B5-4AC8-A864-1DFFD0E84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90700"/>
            <a:ext cx="10953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250" b="0" i="0">
                <a:solidFill>
                  <a:srgbClr val="101828"/>
                </a:solidFill>
                <a:latin typeface="Times New Roman"/>
                <a:ea typeface="Times New Roman"/>
                <a:cs typeface="Times New Roman"/>
              </a:rPr>
              <a:t>My Furniture Store không tách AI thành một tính năng trình diễn; hệ thống đặt AI vào đúng thời điểm khách cần ra quyết định và vẫn giữ được quy trình vận hành phía sau.</a:t>
            </a:r>
          </a:p>
        </p:txBody>
      </p:sp>
      <p:sp>
        <p:nvSpPr>
          <p:cNvPr id="6" name="line-354">
            <a:extLst xmlns:a="http://schemas.openxmlformats.org/drawingml/2006/main">
              <a:ext uri="{FF2B5EF4-FFF2-40B4-BE49-F238E27FC236}">
                <a16:creationId xmlns:a16="http://schemas.microsoft.com/office/drawing/2014/main" id="{372DFC0E-6837-4880-8463-70A2E8C17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524250"/>
            <a:ext cx="3524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3D8DFF"/>
            </a:solidFill>
            <a:prstDash val="solid"/>
          </a:ln>
        </p:spPr>
      </p:sp>
      <p:sp>
        <p:nvSpPr>
          <p:cNvPr id="7" name="text-355">
            <a:extLst xmlns:a="http://schemas.openxmlformats.org/drawingml/2006/main">
              <a:ext uri="{FF2B5EF4-FFF2-40B4-BE49-F238E27FC236}">
                <a16:creationId xmlns:a16="http://schemas.microsoft.com/office/drawing/2014/main" id="{526C5A60-D251-40AE-A443-C392DA30F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05250"/>
            <a:ext cx="3524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01828"/>
                </a:solidFill>
                <a:latin typeface="Times New Roman"/>
                <a:ea typeface="Times New Roman"/>
                <a:cs typeface="Times New Roman"/>
              </a:rPr>
              <a:t>Giá trị người dùng</a:t>
            </a:r>
          </a:p>
        </p:txBody>
      </p:sp>
      <p:sp>
        <p:nvSpPr>
          <p:cNvPr id="8" name="text-356">
            <a:extLst xmlns:a="http://schemas.openxmlformats.org/drawingml/2006/main">
              <a:ext uri="{FF2B5EF4-FFF2-40B4-BE49-F238E27FC236}">
                <a16:creationId xmlns:a16="http://schemas.microsoft.com/office/drawing/2014/main" id="{C27BA260-CAFD-4A9D-882C-BFC2BCDB1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33900"/>
            <a:ext cx="3524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5B6472"/>
                </a:solidFill>
                <a:latin typeface="Times New Roman"/>
                <a:ea typeface="Times New Roman"/>
                <a:cs typeface="Times New Roman"/>
              </a:rPr>
              <a:t>Tìm, chọn, xem thử và đặt hàng trong một hành trình.</a:t>
            </a:r>
          </a:p>
        </p:txBody>
      </p:sp>
      <p:sp>
        <p:nvSpPr>
          <p:cNvPr id="9" name="line-357">
            <a:extLst xmlns:a="http://schemas.openxmlformats.org/drawingml/2006/main">
              <a:ext uri="{FF2B5EF4-FFF2-40B4-BE49-F238E27FC236}">
                <a16:creationId xmlns:a16="http://schemas.microsoft.com/office/drawing/2014/main" id="{F80E4F0F-040F-4449-81FB-9B271766C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524250"/>
            <a:ext cx="3524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18A56A"/>
            </a:solidFill>
            <a:prstDash val="solid"/>
          </a:ln>
        </p:spPr>
      </p:sp>
      <p:sp>
        <p:nvSpPr>
          <p:cNvPr id="10" name="text-358">
            <a:extLst xmlns:a="http://schemas.openxmlformats.org/drawingml/2006/main">
              <a:ext uri="{FF2B5EF4-FFF2-40B4-BE49-F238E27FC236}">
                <a16:creationId xmlns:a16="http://schemas.microsoft.com/office/drawing/2014/main" id="{95FFF11B-0F6A-4C4C-B447-C13A07581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905250"/>
            <a:ext cx="3524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01828"/>
                </a:solidFill>
                <a:latin typeface="Times New Roman"/>
                <a:ea typeface="Times New Roman"/>
                <a:cs typeface="Times New Roman"/>
              </a:rPr>
              <a:t>Giá trị kỹ thuật</a:t>
            </a:r>
          </a:p>
        </p:txBody>
      </p:sp>
      <p:sp>
        <p:nvSpPr>
          <p:cNvPr id="11" name="text-359">
            <a:extLst xmlns:a="http://schemas.openxmlformats.org/drawingml/2006/main">
              <a:ext uri="{FF2B5EF4-FFF2-40B4-BE49-F238E27FC236}">
                <a16:creationId xmlns:a16="http://schemas.microsoft.com/office/drawing/2014/main" id="{8D9F90A2-9B31-4CBF-9744-18D2C4FDB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533900"/>
            <a:ext cx="3524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5B6472"/>
                </a:solidFill>
                <a:latin typeface="Times New Roman"/>
                <a:ea typeface="Times New Roman"/>
                <a:cs typeface="Times New Roman"/>
              </a:rPr>
              <a:t>Kiến trúc nhiều dịch vụ, phân quyền và xử lý ảnh có thể mở rộng.</a:t>
            </a:r>
          </a:p>
        </p:txBody>
      </p:sp>
      <p:sp>
        <p:nvSpPr>
          <p:cNvPr id="12" name="line-360">
            <a:extLst xmlns:a="http://schemas.openxmlformats.org/drawingml/2006/main">
              <a:ext uri="{FF2B5EF4-FFF2-40B4-BE49-F238E27FC236}">
                <a16:creationId xmlns:a16="http://schemas.microsoft.com/office/drawing/2014/main" id="{3C4DD9BA-7691-4088-906C-33ECEB918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524250"/>
            <a:ext cx="3524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3D8DFF"/>
            </a:solidFill>
            <a:prstDash val="solid"/>
          </a:ln>
        </p:spPr>
      </p:sp>
      <p:sp>
        <p:nvSpPr>
          <p:cNvPr id="13" name="text-361">
            <a:extLst xmlns:a="http://schemas.openxmlformats.org/drawingml/2006/main">
              <a:ext uri="{FF2B5EF4-FFF2-40B4-BE49-F238E27FC236}">
                <a16:creationId xmlns:a16="http://schemas.microsoft.com/office/drawing/2014/main" id="{2F0F3E14-DBD3-465B-9FD4-52A0CD1C7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905250"/>
            <a:ext cx="3524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01828"/>
                </a:solidFill>
                <a:latin typeface="Times New Roman"/>
                <a:ea typeface="Times New Roman"/>
                <a:cs typeface="Times New Roman"/>
              </a:rPr>
              <a:t>Giá trị vận hành</a:t>
            </a:r>
          </a:p>
        </p:txBody>
      </p:sp>
      <p:sp>
        <p:nvSpPr>
          <p:cNvPr id="14" name="text-362">
            <a:extLst xmlns:a="http://schemas.openxmlformats.org/drawingml/2006/main">
              <a:ext uri="{FF2B5EF4-FFF2-40B4-BE49-F238E27FC236}">
                <a16:creationId xmlns:a16="http://schemas.microsoft.com/office/drawing/2014/main" id="{7F7E623B-1057-4906-9A68-6FEB88B4E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533900"/>
            <a:ext cx="3524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5B6472"/>
                </a:solidFill>
                <a:latin typeface="Times New Roman"/>
                <a:ea typeface="Times New Roman"/>
                <a:cs typeface="Times New Roman"/>
              </a:rPr>
              <a:t>Admin và shipper cùng quản lý trạng thái đến khi giao hàng hoàn tất.</a:t>
            </a:r>
          </a:p>
        </p:txBody>
      </p:sp>
      <p:sp>
        <p:nvSpPr>
          <p:cNvPr id="15" name="text-363">
            <a:extLst xmlns:a="http://schemas.openxmlformats.org/drawingml/2006/main">
              <a:ext uri="{FF2B5EF4-FFF2-40B4-BE49-F238E27FC236}">
                <a16:creationId xmlns:a16="http://schemas.microsoft.com/office/drawing/2014/main" id="{8DEA4772-A8F8-4132-91F7-2D22F3B8E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829300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3D8DFF"/>
                </a:solidFill>
                <a:latin typeface="Times New Roman"/>
                <a:ea typeface="Times New Roman"/>
                <a:cs typeface="Times New Roman"/>
              </a:rPr>
              <a:t>Kết quả hiện tại là nền tảng khả thi để tiếp tục đánh giá bằng dữ liệu người dùng thực tế.</a:t>
            </a:r>
          </a:p>
        </p:txBody>
      </p:sp>
    </p:spTree>
    <p:extLst>
      <p:ext uri="{BB962C8B-B14F-4D97-AF65-F5344CB8AC3E}">
        <p14:creationId xmlns:p14="http://schemas.microsoft.com/office/powerpoint/2010/main" val="538146807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364">
            <a:extLst xmlns:a="http://schemas.openxmlformats.org/drawingml/2006/main">
              <a:ext uri="{FF2B5EF4-FFF2-40B4-BE49-F238E27FC236}">
                <a16:creationId xmlns:a16="http://schemas.microsoft.com/office/drawing/2014/main" id="{8DE3EF88-FC6F-4C01-B80E-F85B46A92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3D8DFF"/>
                </a:solidFill>
                <a:latin typeface="Times New Roman"/>
                <a:ea typeface="Times New Roman"/>
                <a:cs typeface="Times New Roman"/>
              </a:rPr>
              <a:t>BẢO VỆ KHÓA LUẬN</a:t>
            </a:r>
          </a:p>
        </p:txBody>
      </p:sp>
      <p:sp>
        <p:nvSpPr>
          <p:cNvPr id="2" name="text-365">
            <a:extLst xmlns:a="http://schemas.openxmlformats.org/drawingml/2006/main">
              <a:ext uri="{FF2B5EF4-FFF2-40B4-BE49-F238E27FC236}">
                <a16:creationId xmlns:a16="http://schemas.microsoft.com/office/drawing/2014/main" id="{DBC56750-2FA5-4047-A158-9DC6C886D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33550"/>
            <a:ext cx="94297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5850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6000" b="1" i="0">
                <a:solidFill>
                  <a:srgbClr val="101828"/>
                </a:solidFill>
                <a:latin typeface="Times New Roman"/>
                <a:ea typeface="Times New Roman"/>
                <a:cs typeface="Times New Roman"/>
              </a:rPr>
              <a:t>Cảm ơn Hội đồng</a:t>
            </a:r>
          </a:p>
        </p:txBody>
      </p:sp>
      <p:sp>
        <p:nvSpPr>
          <p:cNvPr id="3" name="text-366">
            <a:extLst xmlns:a="http://schemas.openxmlformats.org/drawingml/2006/main">
              <a:ext uri="{FF2B5EF4-FFF2-40B4-BE49-F238E27FC236}">
                <a16:creationId xmlns:a16="http://schemas.microsoft.com/office/drawing/2014/main" id="{FDF41C85-7F91-4D1B-BB9A-63059DA8E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86150"/>
            <a:ext cx="7620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2550" b="0" i="0">
                <a:solidFill>
                  <a:srgbClr val="5B6472"/>
                </a:solidFill>
                <a:latin typeface="Times New Roman"/>
                <a:ea typeface="Times New Roman"/>
                <a:cs typeface="Times New Roman"/>
              </a:rPr>
              <a:t>Nhóm xin lắng nghe câu hỏi và góp ý</a:t>
            </a:r>
          </a:p>
        </p:txBody>
      </p:sp>
      <p:sp>
        <p:nvSpPr>
          <p:cNvPr id="4" name="text-367">
            <a:extLst xmlns:a="http://schemas.openxmlformats.org/drawingml/2006/main">
              <a:ext uri="{FF2B5EF4-FFF2-40B4-BE49-F238E27FC236}">
                <a16:creationId xmlns:a16="http://schemas.microsoft.com/office/drawing/2014/main" id="{302B52F3-816C-453A-B3A0-9DE3E9670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67300"/>
            <a:ext cx="4000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101828"/>
                </a:solidFill>
                <a:latin typeface="Times New Roman"/>
                <a:ea typeface="Times New Roman"/>
                <a:cs typeface="Times New Roman"/>
              </a:rPr>
              <a:t>Đỗ Minh Vĩ Khang</a:t>
            </a:r>
          </a:p>
          <a:p xmlns:a="http://schemas.openxmlformats.org/drawingml/2006/main">
            <a:pPr algn="l">
              <a:buNone/>
              <a:defRPr sz="1875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101828"/>
                </a:solidFill>
                <a:latin typeface="Times New Roman"/>
                <a:ea typeface="Times New Roman"/>
                <a:cs typeface="Times New Roman"/>
              </a:rPr>
              <a:t>Trần Ngọc Nhật Duy</a:t>
            </a:r>
          </a:p>
        </p:txBody>
      </p:sp>
      <p:sp>
        <p:nvSpPr>
          <p:cNvPr id="5" name="box-368">
            <a:extLst xmlns:a="http://schemas.openxmlformats.org/drawingml/2006/main">
              <a:ext uri="{FF2B5EF4-FFF2-40B4-BE49-F238E27FC236}">
                <a16:creationId xmlns:a16="http://schemas.microsoft.com/office/drawing/2014/main" id="{773713B2-E9FE-40F5-BAF6-20B155316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591050"/>
            <a:ext cx="198120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-369">
            <a:extLst xmlns:a="http://schemas.openxmlformats.org/drawingml/2006/main">
              <a:ext uri="{FF2B5EF4-FFF2-40B4-BE49-F238E27FC236}">
                <a16:creationId xmlns:a16="http://schemas.microsoft.com/office/drawing/2014/main" id="{485A3A5E-ECCE-4291-9856-B09A7395F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5000625"/>
            <a:ext cx="1981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40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4200" b="1" i="0">
                <a:solidFill>
                  <a:srgbClr val="3D8DFF"/>
                </a:solidFill>
                <a:latin typeface="Times New Roman"/>
                <a:ea typeface="Times New Roman"/>
                <a:cs typeface="Times New Roman"/>
              </a:rPr>
              <a:t>Q&amp;A</a:t>
            </a:r>
          </a:p>
        </p:txBody>
      </p:sp>
    </p:spTree>
    <p:extLst>
      <p:ext uri="{BB962C8B-B14F-4D97-AF65-F5344CB8AC3E}">
        <p14:creationId xmlns:p14="http://schemas.microsoft.com/office/powerpoint/2010/main" val="208750893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2026-08-22T17:41:21.8090000Z</dcterms:created>
  <dcterms:modified xsi:type="dcterms:W3CDTF">2026-08-22T17:41:21.8090000Z</dcterms:modified>
</coreProperties>
</file>